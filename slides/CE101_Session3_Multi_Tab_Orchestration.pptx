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1638" y="1219200"/>
            <a:ext cx="5800725" cy="1447800"/>
          </a:xfrm>
          <a:prstGeom prst="roundRect">
            <a:avLst>
              <a:gd name="adj" fmla="val 5263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079974" y="1371600"/>
            <a:ext cx="49840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3: Multi-Tab Orchestration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756784" y="3124200"/>
            <a:ext cx="56302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Aft>
                <a:spcPts val="3600"/>
              </a:spcAft>
              <a:buNone/>
            </a:pPr>
            <a:r>
              <a:rPr lang="en-US" sz="22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Multiple Specialized AI Agents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97810" y="304800"/>
            <a:ext cx="71302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CE101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701159" y="4267200"/>
            <a:ext cx="3138041" cy="419100"/>
          </a:xfrm>
          <a:prstGeom prst="roundRect">
            <a:avLst>
              <a:gd name="adj" fmla="val 18182"/>
            </a:avLst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25227" y="4343400"/>
            <a:ext cx="28899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Workflows, Simplified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57250"/>
            <a:ext cx="9144000" cy="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2286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Learn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859435" y="2343150"/>
            <a:ext cx="3424982" cy="1485900"/>
          </a:xfrm>
          <a:prstGeom prst="rect">
            <a:avLst/>
          </a:prstGeom>
          <a:noFill/>
          <a:ln/>
        </p:spPr>
        <p:txBody>
          <a:bodyPr wrap="square" lIns="106680" tIns="0" rIns="0" bIns="0" rtlCol="0" anchor="t"/>
          <a:lstStyle/>
          <a:p>
            <a:pPr algn="ctr" marL="106680" indent="-10668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multiple tabs/sessions</a:t>
            </a:r>
            <a:endParaRPr lang="en-US" sz="1350" dirty="0"/>
          </a:p>
          <a:p>
            <a:pPr algn="ctr" marL="106680" indent="-10668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patterns and workflows</a:t>
            </a:r>
            <a:endParaRPr lang="en-US" sz="1350" dirty="0"/>
          </a:p>
          <a:p>
            <a:pPr algn="ctr" marL="106680" indent="-10668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between isolated contexts</a:t>
            </a:r>
            <a:endParaRPr lang="en-US" sz="1350" dirty="0"/>
          </a:p>
          <a:p>
            <a:pPr algn="ctr" marL="106680" indent="-10668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 strategies and artifacts</a:t>
            </a:r>
            <a:endParaRPr lang="en-US" sz="1350" dirty="0"/>
          </a:p>
          <a:p>
            <a:pPr algn="ctr" marL="106680" indent="-10668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vs sequential task decomposition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1503" y="84981"/>
            <a:ext cx="7480846" cy="1295400"/>
          </a:xfrm>
          <a:prstGeom prst="roundRect">
            <a:avLst>
              <a:gd name="adj" fmla="val 11765"/>
            </a:avLst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223038" y="389781"/>
            <a:ext cx="6697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Agent, One Job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71575" y="1875681"/>
            <a:ext cx="68008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2400"/>
              </a:spcAft>
              <a:buNone/>
            </a:pPr>
            <a:r>
              <a:rPr lang="en-US" sz="18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Specialization beats generalization when managing complex workflows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42481"/>
            <a:ext cx="3886200" cy="2115889"/>
          </a:xfrm>
          <a:prstGeom prst="roundRect">
            <a:avLst>
              <a:gd name="adj" fmla="val 3601"/>
            </a:avLst>
          </a:prstGeom>
          <a:solidFill>
            <a:srgbClr val="FFFFFF"/>
          </a:solidFill>
          <a:ln w="28575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0657" y="3352056"/>
            <a:ext cx="343928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Aft>
                <a:spcPts val="600"/>
              </a:spcAft>
              <a:buNone/>
            </a:pPr>
            <a:r>
              <a:rPr lang="en-US" sz="36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0657" y="4068217"/>
            <a:ext cx="34392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96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Specialized Agents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0657" y="4456807"/>
            <a:ext cx="3439287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Focused, efficient, parallel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4800600" y="2942481"/>
            <a:ext cx="3886200" cy="2115889"/>
          </a:xfrm>
          <a:prstGeom prst="roundRect">
            <a:avLst>
              <a:gd name="adj" fmla="val 3601"/>
            </a:avLst>
          </a:prstGeom>
          <a:solidFill>
            <a:srgbClr val="FFFFFF"/>
          </a:solidFill>
          <a:ln w="2857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24057" y="3352056"/>
            <a:ext cx="343928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Aft>
                <a:spcPts val="600"/>
              </a:spcAft>
              <a:buNone/>
            </a:pPr>
            <a:r>
              <a:rPr lang="en-US" sz="36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024057" y="4068217"/>
            <a:ext cx="34392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96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Overloaded Agent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4057" y="4456807"/>
            <a:ext cx="3439287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Context-polluted, slow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57250"/>
            <a:ext cx="9144000" cy="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228600"/>
            <a:ext cx="50617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Separate Contexts Matter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04800" y="907703"/>
            <a:ext cx="6324600" cy="740420"/>
          </a:xfrm>
          <a:prstGeom prst="roundRect">
            <a:avLst>
              <a:gd name="adj" fmla="val 1029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33375" y="907703"/>
            <a:ext cx="0" cy="740420"/>
          </a:xfrm>
          <a:prstGeom prst="line">
            <a:avLst/>
          </a:prstGeom>
          <a:noFill/>
          <a:ln w="57150">
            <a:solidFill>
              <a:srgbClr val="5FA8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4350" y="1060103"/>
            <a:ext cx="6081903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4"/>
              </a:lnSpc>
              <a:spcAft>
                <a:spcPts val="240"/>
              </a:spcAft>
              <a:buNone/>
            </a:pPr>
            <a:r>
              <a:rPr lang="en-US" sz="126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context pollution</a:t>
            </a:r>
            <a:endParaRPr lang="en-US" sz="1260" dirty="0"/>
          </a:p>
        </p:txBody>
      </p:sp>
      <p:sp>
        <p:nvSpPr>
          <p:cNvPr id="8" name="Text 6"/>
          <p:cNvSpPr/>
          <p:nvPr/>
        </p:nvSpPr>
        <p:spPr>
          <a:xfrm>
            <a:off x="514350" y="1314450"/>
            <a:ext cx="6081903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agent stays focused on its task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304800" y="1754684"/>
            <a:ext cx="6324600" cy="740420"/>
          </a:xfrm>
          <a:prstGeom prst="roundRect">
            <a:avLst>
              <a:gd name="adj" fmla="val 1029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3375" y="1754684"/>
            <a:ext cx="0" cy="740420"/>
          </a:xfrm>
          <a:prstGeom prst="line">
            <a:avLst/>
          </a:prstGeom>
          <a:noFill/>
          <a:ln w="57150">
            <a:solidFill>
              <a:srgbClr val="5FA8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350" y="1907084"/>
            <a:ext cx="6081903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4"/>
              </a:lnSpc>
              <a:spcAft>
                <a:spcPts val="240"/>
              </a:spcAft>
              <a:buNone/>
            </a:pPr>
            <a:r>
              <a:rPr lang="en-US" sz="126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specialization</a:t>
            </a:r>
            <a:endParaRPr lang="en-US" sz="1260" dirty="0"/>
          </a:p>
        </p:txBody>
      </p:sp>
      <p:sp>
        <p:nvSpPr>
          <p:cNvPr id="12" name="Text 10"/>
          <p:cNvSpPr/>
          <p:nvPr/>
        </p:nvSpPr>
        <p:spPr>
          <a:xfrm>
            <a:off x="514350" y="2161431"/>
            <a:ext cx="6081903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contexts for different expertise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304800" y="2601664"/>
            <a:ext cx="6324600" cy="740420"/>
          </a:xfrm>
          <a:prstGeom prst="roundRect">
            <a:avLst>
              <a:gd name="adj" fmla="val 1029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33375" y="2601664"/>
            <a:ext cx="0" cy="740420"/>
          </a:xfrm>
          <a:prstGeom prst="line">
            <a:avLst/>
          </a:prstGeom>
          <a:noFill/>
          <a:ln w="57150">
            <a:solidFill>
              <a:srgbClr val="5FA8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350" y="2754064"/>
            <a:ext cx="6081903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4"/>
              </a:lnSpc>
              <a:spcAft>
                <a:spcPts val="240"/>
              </a:spcAft>
              <a:buNone/>
            </a:pPr>
            <a:r>
              <a:rPr lang="en-US" sz="126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parallel work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514350" y="3008412"/>
            <a:ext cx="6081903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on multiple tasks simultaneously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304800" y="3448645"/>
            <a:ext cx="6324600" cy="740420"/>
          </a:xfrm>
          <a:prstGeom prst="roundRect">
            <a:avLst>
              <a:gd name="adj" fmla="val 1029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33375" y="3448645"/>
            <a:ext cx="0" cy="740420"/>
          </a:xfrm>
          <a:prstGeom prst="line">
            <a:avLst/>
          </a:prstGeom>
          <a:noFill/>
          <a:ln w="57150">
            <a:solidFill>
              <a:srgbClr val="5FA8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350" y="3601045"/>
            <a:ext cx="6081903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4"/>
              </a:lnSpc>
              <a:spcAft>
                <a:spcPts val="240"/>
              </a:spcAft>
              <a:buNone/>
            </a:pPr>
            <a:r>
              <a:rPr lang="en-US" sz="126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focus per task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514350" y="3855393"/>
            <a:ext cx="6081903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cognitive overload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304800" y="4295626"/>
            <a:ext cx="6324600" cy="740420"/>
          </a:xfrm>
          <a:prstGeom prst="roundRect">
            <a:avLst>
              <a:gd name="adj" fmla="val 1029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33375" y="4295626"/>
            <a:ext cx="0" cy="740420"/>
          </a:xfrm>
          <a:prstGeom prst="line">
            <a:avLst/>
          </a:prstGeom>
          <a:noFill/>
          <a:ln w="57150">
            <a:solidFill>
              <a:srgbClr val="5FA8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4350" y="4448026"/>
            <a:ext cx="6081903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4"/>
              </a:lnSpc>
              <a:spcAft>
                <a:spcPts val="240"/>
              </a:spcAft>
              <a:buNone/>
            </a:pPr>
            <a:r>
              <a:rPr lang="en-US" sz="126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Easier to manage complexity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514350" y="4702373"/>
            <a:ext cx="6081903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down complex problems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6934200" y="1690241"/>
            <a:ext cx="1905000" cy="1190179"/>
          </a:xfrm>
          <a:prstGeom prst="roundRect">
            <a:avLst>
              <a:gd name="adj" fmla="val 6402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148322" y="1918841"/>
            <a:ext cx="1476756" cy="469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96"/>
              </a:lnSpc>
              <a:buNone/>
            </a:pPr>
            <a:r>
              <a:rPr lang="en-US" sz="26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640" dirty="0"/>
          </a:p>
        </p:txBody>
      </p:sp>
      <p:sp>
        <p:nvSpPr>
          <p:cNvPr id="27" name="Text 25"/>
          <p:cNvSpPr/>
          <p:nvPr/>
        </p:nvSpPr>
        <p:spPr>
          <a:xfrm>
            <a:off x="7148322" y="2449116"/>
            <a:ext cx="147675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6"/>
              </a:lnSpc>
              <a:spcBef>
                <a:spcPts val="480"/>
              </a:spcBef>
              <a:buNone/>
            </a:pPr>
            <a:r>
              <a:rPr lang="en-US" sz="11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</a:t>
            </a:r>
            <a:endParaRPr lang="en-US" sz="1140" dirty="0"/>
          </a:p>
        </p:txBody>
      </p:sp>
      <p:sp>
        <p:nvSpPr>
          <p:cNvPr id="28" name="Text 26"/>
          <p:cNvSpPr/>
          <p:nvPr/>
        </p:nvSpPr>
        <p:spPr>
          <a:xfrm>
            <a:off x="6934200" y="3063180"/>
            <a:ext cx="1905000" cy="1190179"/>
          </a:xfrm>
          <a:prstGeom prst="roundRect">
            <a:avLst>
              <a:gd name="adj" fmla="val 6402"/>
            </a:avLst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148322" y="3291780"/>
            <a:ext cx="1476756" cy="469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96"/>
              </a:lnSpc>
              <a:buNone/>
            </a:pPr>
            <a:r>
              <a:rPr lang="en-US" sz="264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🌀</a:t>
            </a:r>
            <a:endParaRPr lang="en-US" sz="2640" dirty="0"/>
          </a:p>
        </p:txBody>
      </p:sp>
      <p:sp>
        <p:nvSpPr>
          <p:cNvPr id="30" name="Text 28"/>
          <p:cNvSpPr/>
          <p:nvPr/>
        </p:nvSpPr>
        <p:spPr>
          <a:xfrm>
            <a:off x="7148322" y="3822055"/>
            <a:ext cx="147675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6"/>
              </a:lnSpc>
              <a:spcBef>
                <a:spcPts val="480"/>
              </a:spcBef>
              <a:buNone/>
            </a:pPr>
            <a:r>
              <a:rPr lang="en-US" sz="114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57250"/>
            <a:ext cx="9144000" cy="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228600"/>
            <a:ext cx="666483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Framework: One Tab or Many?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04800" y="1394371"/>
            <a:ext cx="4114800" cy="2434233"/>
          </a:xfrm>
          <a:prstGeom prst="roundRect">
            <a:avLst>
              <a:gd name="adj" fmla="val 3130"/>
            </a:avLst>
          </a:prstGeom>
          <a:solidFill>
            <a:srgbClr val="FFFFFF"/>
          </a:solidFill>
          <a:ln w="28575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777157" y="1697236"/>
            <a:ext cx="1170087" cy="324445"/>
          </a:xfrm>
          <a:prstGeom prst="roundRect">
            <a:avLst>
              <a:gd name="adj" fmla="val 14092"/>
            </a:avLst>
          </a:prstGeom>
          <a:solidFill>
            <a:srgbClr val="5FA8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920904" y="1758107"/>
            <a:ext cx="88259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TAB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607665" y="2143571"/>
            <a:ext cx="3509070" cy="876300"/>
          </a:xfrm>
          <a:prstGeom prst="rect">
            <a:avLst/>
          </a:prstGeom>
          <a:noFill/>
          <a:ln/>
        </p:spPr>
        <p:txBody>
          <a:bodyPr wrap="square" lIns="72390" tIns="0" rIns="0" bIns="0" rtlCol="0" anchor="t"/>
          <a:lstStyle/>
          <a:p>
            <a:pPr algn="ctr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related tasks</a:t>
            </a:r>
            <a:endParaRPr lang="en-US" sz="1350" dirty="0"/>
          </a:p>
          <a:p>
            <a:pPr algn="ctr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workflow</a:t>
            </a:r>
            <a:endParaRPr lang="en-US" sz="1350" dirty="0"/>
          </a:p>
          <a:p>
            <a:pPr algn="ctr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context needed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72575" y="3141762"/>
            <a:ext cx="3579251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24"/>
              </a:lnSpc>
              <a:spcBef>
                <a:spcPts val="960"/>
              </a:spcBef>
              <a:buNone/>
            </a:pPr>
            <a:r>
              <a:rPr lang="en-US" sz="216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60" dirty="0"/>
          </a:p>
        </p:txBody>
      </p:sp>
      <p:sp>
        <p:nvSpPr>
          <p:cNvPr id="10" name="Text 8"/>
          <p:cNvSpPr/>
          <p:nvPr/>
        </p:nvSpPr>
        <p:spPr>
          <a:xfrm>
            <a:off x="4724400" y="1241971"/>
            <a:ext cx="4114800" cy="2739033"/>
          </a:xfrm>
          <a:prstGeom prst="roundRect">
            <a:avLst>
              <a:gd name="adj" fmla="val 2782"/>
            </a:avLst>
          </a:prstGeom>
          <a:solidFill>
            <a:srgbClr val="FFFFFF"/>
          </a:solidFill>
          <a:ln w="28575">
            <a:solidFill>
              <a:srgbClr val="FF6F5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61472" y="1544836"/>
            <a:ext cx="1440656" cy="324445"/>
          </a:xfrm>
          <a:prstGeom prst="roundRect">
            <a:avLst>
              <a:gd name="adj" fmla="val 14092"/>
            </a:avLst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02513" y="1605707"/>
            <a:ext cx="1158573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TABS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5027265" y="1991171"/>
            <a:ext cx="3509070" cy="1181100"/>
          </a:xfrm>
          <a:prstGeom prst="rect">
            <a:avLst/>
          </a:prstGeom>
          <a:noFill/>
          <a:ln/>
        </p:spPr>
        <p:txBody>
          <a:bodyPr wrap="square" lIns="72390" tIns="0" rIns="0" bIns="0" rtlCol="0" anchor="t"/>
          <a:lstStyle/>
          <a:p>
            <a:pPr algn="ctr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Complex, distinct tasks</a:t>
            </a:r>
            <a:endParaRPr lang="en-US" sz="1350" dirty="0"/>
          </a:p>
          <a:p>
            <a:pPr algn="ctr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development</a:t>
            </a:r>
            <a:endParaRPr lang="en-US" sz="1350" dirty="0"/>
          </a:p>
          <a:p>
            <a:pPr algn="ctr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+ production</a:t>
            </a:r>
            <a:endParaRPr lang="en-US" sz="1350" dirty="0"/>
          </a:p>
          <a:p>
            <a:pPr algn="ctr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specializations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92175" y="3294162"/>
            <a:ext cx="3579251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24"/>
              </a:lnSpc>
              <a:spcBef>
                <a:spcPts val="960"/>
              </a:spcBef>
              <a:buNone/>
            </a:pPr>
            <a:r>
              <a:rPr lang="en-US" sz="216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160" dirty="0"/>
          </a:p>
        </p:txBody>
      </p:sp>
      <p:sp>
        <p:nvSpPr>
          <p:cNvPr id="15" name="Text 13"/>
          <p:cNvSpPr/>
          <p:nvPr/>
        </p:nvSpPr>
        <p:spPr>
          <a:xfrm>
            <a:off x="1229618" y="4209604"/>
            <a:ext cx="6684764" cy="568226"/>
          </a:xfrm>
          <a:prstGeom prst="roundRect">
            <a:avLst>
              <a:gd name="adj" fmla="val 13410"/>
            </a:avLst>
          </a:prstGeom>
          <a:solidFill>
            <a:srgbClr val="E8F3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1258193" y="4209604"/>
            <a:ext cx="0" cy="568226"/>
          </a:xfrm>
          <a:prstGeom prst="line">
            <a:avLst/>
          </a:prstGeom>
          <a:noFill/>
          <a:ln w="57150">
            <a:solidFill>
              <a:srgbClr val="1B496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53664" y="4392364"/>
            <a:ext cx="629382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thumb:</a:t>
            </a:r>
            <a:pPr algn="ctr"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tasks need different mental models or can run independently, split them.</a:t>
            </a:r>
            <a:endParaRPr lang="en-US" sz="11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57250"/>
            <a:ext cx="9144000" cy="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2286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Workflow Patterns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04800" y="1232595"/>
            <a:ext cx="4114800" cy="1355973"/>
          </a:xfrm>
          <a:prstGeom prst="roundRect">
            <a:avLst>
              <a:gd name="adj" fmla="val 562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04800" y="1251645"/>
            <a:ext cx="4114800" cy="0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704" y="1468785"/>
            <a:ext cx="3792992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24"/>
              </a:lnSpc>
              <a:spcAft>
                <a:spcPts val="480"/>
              </a:spcAft>
              <a:buNone/>
            </a:pPr>
            <a:r>
              <a:rPr lang="en-US" sz="216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→ 🔨</a:t>
            </a:r>
            <a:endParaRPr lang="en-US" sz="2160" dirty="0"/>
          </a:p>
        </p:txBody>
      </p:sp>
      <p:sp>
        <p:nvSpPr>
          <p:cNvPr id="8" name="Text 6"/>
          <p:cNvSpPr/>
          <p:nvPr/>
        </p:nvSpPr>
        <p:spPr>
          <a:xfrm>
            <a:off x="465704" y="1913632"/>
            <a:ext cx="3792992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4"/>
              </a:lnSpc>
              <a:spcAft>
                <a:spcPts val="480"/>
              </a:spcAft>
              <a:buNone/>
            </a:pPr>
            <a:r>
              <a:rPr lang="en-US" sz="126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465704" y="2198489"/>
            <a:ext cx="3792992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tab → Implementation tab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4724400" y="1232595"/>
            <a:ext cx="4114800" cy="1355973"/>
          </a:xfrm>
          <a:prstGeom prst="roundRect">
            <a:avLst>
              <a:gd name="adj" fmla="val 562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24400" y="1251645"/>
            <a:ext cx="4114800" cy="0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5304" y="1468785"/>
            <a:ext cx="3792992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24"/>
              </a:lnSpc>
              <a:spcAft>
                <a:spcPts val="480"/>
              </a:spcAft>
              <a:buNone/>
            </a:pPr>
            <a:r>
              <a:rPr lang="en-US" sz="216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| 🐛</a:t>
            </a:r>
            <a:endParaRPr lang="en-US" sz="2160" dirty="0"/>
          </a:p>
        </p:txBody>
      </p:sp>
      <p:sp>
        <p:nvSpPr>
          <p:cNvPr id="13" name="Text 11"/>
          <p:cNvSpPr/>
          <p:nvPr/>
        </p:nvSpPr>
        <p:spPr>
          <a:xfrm>
            <a:off x="4885304" y="1913632"/>
            <a:ext cx="3792992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4"/>
              </a:lnSpc>
              <a:spcAft>
                <a:spcPts val="480"/>
              </a:spcAft>
              <a:buNone/>
            </a:pPr>
            <a:r>
              <a:rPr lang="en-US" sz="126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4885304" y="2198489"/>
            <a:ext cx="3792992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tab + Debugging tab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304800" y="2740968"/>
            <a:ext cx="4114800" cy="1355973"/>
          </a:xfrm>
          <a:prstGeom prst="roundRect">
            <a:avLst>
              <a:gd name="adj" fmla="val 562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04800" y="2760018"/>
            <a:ext cx="4114800" cy="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5704" y="2977158"/>
            <a:ext cx="3792992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24"/>
              </a:lnSpc>
              <a:spcAft>
                <a:spcPts val="480"/>
              </a:spcAft>
              <a:buNone/>
            </a:pPr>
            <a:r>
              <a:rPr lang="en-US" sz="216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| 📱</a:t>
            </a:r>
            <a:endParaRPr lang="en-US" sz="2160" dirty="0"/>
          </a:p>
        </p:txBody>
      </p:sp>
      <p:sp>
        <p:nvSpPr>
          <p:cNvPr id="18" name="Text 16"/>
          <p:cNvSpPr/>
          <p:nvPr/>
        </p:nvSpPr>
        <p:spPr>
          <a:xfrm>
            <a:off x="465704" y="3422005"/>
            <a:ext cx="3792992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4"/>
              </a:lnSpc>
              <a:spcAft>
                <a:spcPts val="480"/>
              </a:spcAft>
              <a:buNone/>
            </a:pPr>
            <a:r>
              <a:rPr lang="en-US" sz="126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of Concerns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465704" y="3706862"/>
            <a:ext cx="3792992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tab + Application tab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4724400" y="2740968"/>
            <a:ext cx="4114800" cy="1355973"/>
          </a:xfrm>
          <a:prstGeom prst="roundRect">
            <a:avLst>
              <a:gd name="adj" fmla="val 562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24400" y="2760018"/>
            <a:ext cx="4114800" cy="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5304" y="2977158"/>
            <a:ext cx="3792992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24"/>
              </a:lnSpc>
              <a:spcAft>
                <a:spcPts val="480"/>
              </a:spcAft>
              <a:buNone/>
            </a:pPr>
            <a:r>
              <a:rPr lang="en-US" sz="216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| 🚀</a:t>
            </a:r>
            <a:endParaRPr lang="en-US" sz="2160" dirty="0"/>
          </a:p>
        </p:txBody>
      </p:sp>
      <p:sp>
        <p:nvSpPr>
          <p:cNvPr id="23" name="Text 21"/>
          <p:cNvSpPr/>
          <p:nvPr/>
        </p:nvSpPr>
        <p:spPr>
          <a:xfrm>
            <a:off x="4885304" y="3422005"/>
            <a:ext cx="3792992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4"/>
              </a:lnSpc>
              <a:spcAft>
                <a:spcPts val="480"/>
              </a:spcAft>
              <a:buNone/>
            </a:pPr>
            <a:r>
              <a:rPr lang="en-US" sz="126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4885304" y="3706862"/>
            <a:ext cx="3792992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tab + Production tab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304800" y="4249341"/>
            <a:ext cx="8534400" cy="537865"/>
          </a:xfrm>
          <a:prstGeom prst="roundRect">
            <a:avLst>
              <a:gd name="adj" fmla="val 14167"/>
            </a:avLst>
          </a:prstGeom>
          <a:solidFill>
            <a:srgbClr val="E8F3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52628" y="4416921"/>
            <a:ext cx="8238744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patterns that match your workflow's natural structure</a:t>
            </a:r>
            <a:endParaRPr lang="en-US" sz="11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57250"/>
            <a:ext cx="9144000" cy="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228600"/>
            <a:ext cx="49840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Orchestrating Multiple Agents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04800" y="1607790"/>
            <a:ext cx="4838700" cy="734467"/>
          </a:xfrm>
          <a:prstGeom prst="roundRect">
            <a:avLst>
              <a:gd name="adj" fmla="val 10375"/>
            </a:avLst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9585" y="1836390"/>
            <a:ext cx="4469130" cy="277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84"/>
              </a:lnSpc>
              <a:buNone/>
            </a:pPr>
            <a:r>
              <a:rPr lang="en-US" sz="15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Coordinator Pattern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304800" y="2570857"/>
            <a:ext cx="4838700" cy="1181100"/>
          </a:xfrm>
          <a:prstGeom prst="rect">
            <a:avLst/>
          </a:prstGeom>
          <a:noFill/>
          <a:ln/>
        </p:spPr>
        <p:txBody>
          <a:bodyPr wrap="square" lIns="83820" tIns="0" rIns="0" bIns="0" rtlCol="0" anchor="t"/>
          <a:lstStyle/>
          <a:p>
            <a:pPr algn="l" marL="83820" indent="-8382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tab manages overall workflow</a:t>
            </a:r>
            <a:endParaRPr lang="en-US" sz="1350" dirty="0"/>
          </a:p>
          <a:p>
            <a:pPr algn="l" marL="83820" indent="-8382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tabs handle specific tasks</a:t>
            </a:r>
            <a:endParaRPr lang="en-US" sz="1350" dirty="0"/>
          </a:p>
          <a:p>
            <a:pPr algn="l" marL="83820" indent="-8382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 aggregates results</a:t>
            </a:r>
            <a:endParaRPr lang="en-US" sz="1350" dirty="0"/>
          </a:p>
          <a:p>
            <a:pPr algn="l" marL="83820" indent="-8382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handoff points between tabs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04800" y="4056757"/>
            <a:ext cx="4838700" cy="507504"/>
          </a:xfrm>
          <a:prstGeom prst="roundRect">
            <a:avLst>
              <a:gd name="adj" fmla="val 15015"/>
            </a:avLst>
          </a:prstGeom>
          <a:solidFill>
            <a:srgbClr val="E8F3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3850" y="4056757"/>
            <a:ext cx="0" cy="507504"/>
          </a:xfrm>
          <a:prstGeom prst="line">
            <a:avLst/>
          </a:prstGeom>
          <a:noFill/>
          <a:ln w="38100">
            <a:solidFill>
              <a:srgbClr val="1B49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300" y="4209157"/>
            <a:ext cx="458571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for complex projects with multiple moving parts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6743700" y="2609850"/>
            <a:ext cx="952500" cy="952500"/>
          </a:xfrm>
          <a:prstGeom prst="roundRect">
            <a:avLst>
              <a:gd name="adj" fmla="val 96000"/>
            </a:avLst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730986" y="2968823"/>
            <a:ext cx="978078" cy="234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48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886575" y="1752600"/>
            <a:ext cx="666750" cy="666750"/>
          </a:xfrm>
          <a:prstGeom prst="roundRect">
            <a:avLst>
              <a:gd name="adj" fmla="val 137143"/>
            </a:avLst>
          </a:prstGeom>
          <a:solidFill>
            <a:srgbClr val="5FA8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55644" y="1995339"/>
            <a:ext cx="335185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1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7886700" y="2752725"/>
            <a:ext cx="666750" cy="666750"/>
          </a:xfrm>
          <a:prstGeom prst="roundRect">
            <a:avLst>
              <a:gd name="adj" fmla="val 137143"/>
            </a:avLst>
          </a:prstGeom>
          <a:solidFill>
            <a:srgbClr val="5FA8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055769" y="2995464"/>
            <a:ext cx="335185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2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886575" y="3752850"/>
            <a:ext cx="666750" cy="666750"/>
          </a:xfrm>
          <a:prstGeom prst="roundRect">
            <a:avLst>
              <a:gd name="adj" fmla="val 137143"/>
            </a:avLst>
          </a:prstGeom>
          <a:solidFill>
            <a:srgbClr val="5FA8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55644" y="3995589"/>
            <a:ext cx="335185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3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5886450" y="2752725"/>
            <a:ext cx="666750" cy="666750"/>
          </a:xfrm>
          <a:prstGeom prst="roundRect">
            <a:avLst>
              <a:gd name="adj" fmla="val 137143"/>
            </a:avLst>
          </a:prstGeom>
          <a:solidFill>
            <a:srgbClr val="5FA8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055519" y="2995464"/>
            <a:ext cx="335185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4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57250"/>
            <a:ext cx="9144000" cy="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228600"/>
            <a:ext cx="532409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Work Between Contexts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04800" y="701725"/>
            <a:ext cx="5712714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2"/>
              </a:lnSpc>
              <a:spcAft>
                <a:spcPts val="1200"/>
              </a:spcAft>
              <a:buNone/>
            </a:pPr>
            <a:r>
              <a:rPr lang="en-US" sz="156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Handoff Techniques</a:t>
            </a:r>
            <a:endParaRPr lang="en-US" sz="1560" dirty="0"/>
          </a:p>
        </p:txBody>
      </p:sp>
      <p:sp>
        <p:nvSpPr>
          <p:cNvPr id="6" name="Text 4"/>
          <p:cNvSpPr/>
          <p:nvPr/>
        </p:nvSpPr>
        <p:spPr>
          <a:xfrm>
            <a:off x="304800" y="1091803"/>
            <a:ext cx="5600700" cy="699046"/>
          </a:xfrm>
          <a:prstGeom prst="roundRect">
            <a:avLst>
              <a:gd name="adj" fmla="val 109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28613" y="1091803"/>
            <a:ext cx="0" cy="699046"/>
          </a:xfrm>
          <a:prstGeom prst="line">
            <a:avLst/>
          </a:prstGeom>
          <a:noFill/>
          <a:ln w="47625">
            <a:solidFill>
              <a:srgbClr val="5FA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496" y="1228874"/>
            <a:ext cx="538451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240"/>
              </a:spcAft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Use artifacts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496" y="1472505"/>
            <a:ext cx="538451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Code, documents, data files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304800" y="1897410"/>
            <a:ext cx="5600700" cy="699046"/>
          </a:xfrm>
          <a:prstGeom prst="roundRect">
            <a:avLst>
              <a:gd name="adj" fmla="val 109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8613" y="1897410"/>
            <a:ext cx="0" cy="699046"/>
          </a:xfrm>
          <a:prstGeom prst="line">
            <a:avLst/>
          </a:prstGeom>
          <a:noFill/>
          <a:ln w="47625">
            <a:solidFill>
              <a:srgbClr val="5FA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496" y="2034480"/>
            <a:ext cx="538451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240"/>
              </a:spcAft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Provide clear summaries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496" y="2278112"/>
            <a:ext cx="538451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done, what's next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304800" y="2703016"/>
            <a:ext cx="5600700" cy="699046"/>
          </a:xfrm>
          <a:prstGeom prst="roundRect">
            <a:avLst>
              <a:gd name="adj" fmla="val 109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28613" y="2703016"/>
            <a:ext cx="0" cy="699046"/>
          </a:xfrm>
          <a:prstGeom prst="line">
            <a:avLst/>
          </a:prstGeom>
          <a:noFill/>
          <a:ln w="47625">
            <a:solidFill>
              <a:srgbClr val="5FA8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496" y="2840087"/>
            <a:ext cx="538451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240"/>
              </a:spcAft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Include relevant context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496" y="3083719"/>
            <a:ext cx="538451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enough to proceed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304800" y="3508623"/>
            <a:ext cx="5600700" cy="699046"/>
          </a:xfrm>
          <a:prstGeom prst="roundRect">
            <a:avLst>
              <a:gd name="adj" fmla="val 109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28613" y="3508623"/>
            <a:ext cx="0" cy="699046"/>
          </a:xfrm>
          <a:prstGeom prst="line">
            <a:avLst/>
          </a:prstGeom>
          <a:noFill/>
          <a:ln w="47625">
            <a:solidFill>
              <a:srgbClr val="5FA8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496" y="3645694"/>
            <a:ext cx="538451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240"/>
              </a:spcAft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Define acceptance criteria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496" y="3889325"/>
            <a:ext cx="538451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success metrics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304800" y="4314230"/>
            <a:ext cx="5600700" cy="699046"/>
          </a:xfrm>
          <a:prstGeom prst="roundRect">
            <a:avLst>
              <a:gd name="adj" fmla="val 109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28613" y="4314230"/>
            <a:ext cx="0" cy="699046"/>
          </a:xfrm>
          <a:prstGeom prst="line">
            <a:avLst/>
          </a:prstGeom>
          <a:noFill/>
          <a:ln w="47625">
            <a:solidFill>
              <a:srgbClr val="5FA8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496" y="4451300"/>
            <a:ext cx="538451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240"/>
              </a:spcAft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Document decisions made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496" y="4694932"/>
            <a:ext cx="538451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redundant exploration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6362700" y="1914971"/>
            <a:ext cx="2476500" cy="1885057"/>
          </a:xfrm>
          <a:prstGeom prst="roundRect">
            <a:avLst>
              <a:gd name="adj" fmla="val 4042"/>
            </a:avLst>
          </a:prstGeom>
          <a:solidFill>
            <a:srgbClr val="E8F3F8"/>
          </a:solidFill>
          <a:ln w="28575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589365" y="2141637"/>
            <a:ext cx="206363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960"/>
              </a:spcAft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Handoff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9365" y="2476798"/>
            <a:ext cx="2063633" cy="1096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From:</a:t>
            </a:r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Research Tab
</a:t>
            </a:r>
            <a:pPr algn="l"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To:</a:t>
            </a:r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Implementation Tab
</a:t>
            </a:r>
            <a:pPr algn="l"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Artifact:</a:t>
            </a:r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requirements.md
</a:t>
            </a:r>
            <a:pPr algn="l"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</a:t>
            </a:r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API design complete
</a:t>
            </a:r>
            <a:pPr algn="l"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</a:t>
            </a:r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Build endpoints
</a:t>
            </a:r>
            <a:pPr algn="l"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Success:</a:t>
            </a:r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tests pass</a:t>
            </a:r>
            <a:endParaRPr lang="en-US" sz="9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57250"/>
            <a:ext cx="9144000" cy="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228600"/>
            <a:ext cx="52658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Investigation Workflow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62000" y="1528018"/>
            <a:ext cx="3505200" cy="929432"/>
          </a:xfrm>
          <a:prstGeom prst="roundRect">
            <a:avLst>
              <a:gd name="adj" fmla="val 8199"/>
            </a:avLst>
          </a:prstGeom>
          <a:solidFill>
            <a:srgbClr val="5FA8D3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60120" y="1756618"/>
            <a:ext cx="3108960" cy="234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48"/>
              </a:lnSpc>
              <a:spcAft>
                <a:spcPts val="360"/>
              </a:spcAft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1: Analysis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960120" y="2036862"/>
            <a:ext cx="3108960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analysis and pattern detection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416552" y="1779389"/>
            <a:ext cx="31089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876800" y="1528018"/>
            <a:ext cx="3505200" cy="929432"/>
          </a:xfrm>
          <a:prstGeom prst="roundRect">
            <a:avLst>
              <a:gd name="adj" fmla="val 8199"/>
            </a:avLst>
          </a:prstGeom>
          <a:solidFill>
            <a:srgbClr val="5FA8D3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74920" y="1756618"/>
            <a:ext cx="3108960" cy="234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48"/>
              </a:lnSpc>
              <a:spcAft>
                <a:spcPts val="360"/>
              </a:spcAft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2: Research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5074920" y="2036862"/>
            <a:ext cx="3108960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and runbook reference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762000" y="2686050"/>
            <a:ext cx="3505200" cy="929432"/>
          </a:xfrm>
          <a:prstGeom prst="roundRect">
            <a:avLst>
              <a:gd name="adj" fmla="val 8199"/>
            </a:avLst>
          </a:prstGeom>
          <a:solidFill>
            <a:srgbClr val="FF6F59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60120" y="2914650"/>
            <a:ext cx="3108960" cy="234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48"/>
              </a:lnSpc>
              <a:spcAft>
                <a:spcPts val="360"/>
              </a:spcAft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3: Fix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960120" y="3194893"/>
            <a:ext cx="3108960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implementation and testing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416552" y="2937421"/>
            <a:ext cx="31089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876800" y="2686050"/>
            <a:ext cx="3505200" cy="929432"/>
          </a:xfrm>
          <a:prstGeom prst="roundRect">
            <a:avLst>
              <a:gd name="adj" fmla="val 8199"/>
            </a:avLst>
          </a:prstGeom>
          <a:solidFill>
            <a:srgbClr val="1B4965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74920" y="2914650"/>
            <a:ext cx="3108960" cy="234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48"/>
              </a:lnSpc>
              <a:spcAft>
                <a:spcPts val="360"/>
              </a:spcAft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4: Documentation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5074920" y="3194893"/>
            <a:ext cx="3108960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Post-mortem writing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762000" y="3920282"/>
            <a:ext cx="7620000" cy="723900"/>
          </a:xfrm>
          <a:prstGeom prst="roundRect">
            <a:avLst>
              <a:gd name="adj" fmla="val 10526"/>
            </a:avLst>
          </a:prstGeom>
          <a:solidFill>
            <a:srgbClr val="E8F3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790575" y="3920282"/>
            <a:ext cx="0" cy="723900"/>
          </a:xfrm>
          <a:prstGeom prst="line">
            <a:avLst/>
          </a:prstGeom>
          <a:noFill/>
          <a:ln w="57150">
            <a:solidFill>
              <a:srgbClr val="1B496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6694" y="4148882"/>
            <a:ext cx="72477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tab maintains focus</a:t>
            </a:r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its specific phase while passing artifacts forward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57250"/>
            <a:ext cx="9144000" cy="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228600"/>
            <a:ext cx="518807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Breaking Down Complex Tasks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04800" y="1710630"/>
            <a:ext cx="474116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Decomposition Strategy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04800" y="2213521"/>
            <a:ext cx="4648200" cy="2247900"/>
          </a:xfrm>
          <a:prstGeom prst="rect">
            <a:avLst/>
          </a:prstGeom>
          <a:noFill/>
          <a:ln/>
        </p:spPr>
        <p:txBody>
          <a:bodyPr wrap="square" lIns="87630" tIns="0" rIns="0" bIns="0" rtlCol="0" anchor="t"/>
          <a:lstStyle/>
          <a:p>
            <a:pPr algn="l" marL="87630" indent="-8763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independent subtasks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ts val="2100"/>
              </a:lnSpc>
              <a:buNone/>
            </a:pPr>
            <a:r>
              <a:rPr lang="en-US" sz="102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be done separately?</a:t>
            </a:r>
            <a:endParaRPr lang="en-US" sz="1350" dirty="0"/>
          </a:p>
          <a:p>
            <a:pPr algn="l" marL="87630" indent="-8763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 dependencies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ts val="2100"/>
              </a:lnSpc>
              <a:buNone/>
            </a:pPr>
            <a:r>
              <a:rPr lang="en-US" sz="102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must happen first?</a:t>
            </a:r>
            <a:endParaRPr lang="en-US" sz="1350" dirty="0"/>
          </a:p>
          <a:p>
            <a:pPr algn="l" marL="87630" indent="-8763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to specialized contexts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ts val="2100"/>
              </a:lnSpc>
              <a:buNone/>
            </a:pPr>
            <a:r>
              <a:rPr lang="en-US" sz="102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task to agent expertise</a:t>
            </a:r>
            <a:endParaRPr lang="en-US" sz="1350" dirty="0"/>
          </a:p>
          <a:p>
            <a:pPr algn="l" marL="87630" indent="-8763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vs sequential decision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ts val="2100"/>
              </a:lnSpc>
              <a:buNone/>
            </a:pPr>
            <a:r>
              <a:rPr lang="en-US" sz="102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tasks run simultaneously?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10200" y="1025128"/>
            <a:ext cx="3429000" cy="4122093"/>
          </a:xfrm>
          <a:prstGeom prst="roundRect">
            <a:avLst>
              <a:gd name="adj" fmla="val 2222"/>
            </a:avLst>
          </a:prstGeom>
          <a:solidFill>
            <a:srgbClr val="E8F3F8"/>
          </a:solidFill>
          <a:ln w="28575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638229" y="1282303"/>
            <a:ext cx="2972943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16"/>
              </a:lnSpc>
              <a:spcAft>
                <a:spcPts val="1200"/>
              </a:spcAft>
              <a:buNone/>
            </a:pPr>
            <a:r>
              <a:rPr lang="en-US" sz="144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New Service Setup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5667375" y="1690688"/>
            <a:ext cx="2914650" cy="708422"/>
          </a:xfrm>
          <a:prstGeom prst="roundRect">
            <a:avLst>
              <a:gd name="adj" fmla="val 64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686425" y="1690688"/>
            <a:ext cx="0" cy="708422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7875" y="1843088"/>
            <a:ext cx="2623185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1: Infrastructure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5857875" y="2076152"/>
            <a:ext cx="2623185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spcBef>
                <a:spcPts val="240"/>
              </a:spcBef>
              <a:buNone/>
            </a:pPr>
            <a:r>
              <a:rPr lang="en-US" sz="96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resources, networking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5667375" y="2521000"/>
            <a:ext cx="2914650" cy="708422"/>
          </a:xfrm>
          <a:prstGeom prst="roundRect">
            <a:avLst>
              <a:gd name="adj" fmla="val 64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686425" y="2521000"/>
            <a:ext cx="0" cy="708422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7875" y="2673400"/>
            <a:ext cx="2623185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2: Application Code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5857875" y="2906464"/>
            <a:ext cx="2623185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spcBef>
                <a:spcPts val="240"/>
              </a:spcBef>
              <a:buNone/>
            </a:pPr>
            <a:r>
              <a:rPr lang="en-US" sz="96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logic, API endpoints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5667375" y="3351312"/>
            <a:ext cx="2914650" cy="708422"/>
          </a:xfrm>
          <a:prstGeom prst="roundRect">
            <a:avLst>
              <a:gd name="adj" fmla="val 64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686425" y="3351312"/>
            <a:ext cx="0" cy="708422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7875" y="3503712"/>
            <a:ext cx="2623185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3: Monitoring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5857875" y="3736777"/>
            <a:ext cx="2623185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spcBef>
                <a:spcPts val="240"/>
              </a:spcBef>
              <a:buNone/>
            </a:pPr>
            <a:r>
              <a:rPr lang="en-US" sz="96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Dashboards, alerts, logs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5667375" y="4181624"/>
            <a:ext cx="2914650" cy="708422"/>
          </a:xfrm>
          <a:prstGeom prst="roundRect">
            <a:avLst>
              <a:gd name="adj" fmla="val 64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686425" y="4181624"/>
            <a:ext cx="0" cy="708422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7875" y="4334024"/>
            <a:ext cx="2623185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4: Documentation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5857875" y="4567089"/>
            <a:ext cx="2623185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spcBef>
                <a:spcPts val="240"/>
              </a:spcBef>
              <a:buNone/>
            </a:pPr>
            <a:r>
              <a:rPr lang="en-US" sz="96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Runbooks, API docs</a:t>
            </a:r>
            <a:endParaRPr lang="en-US" sz="9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57250"/>
            <a:ext cx="9144000" cy="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228600"/>
            <a:ext cx="480917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Best Practices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04800" y="1172021"/>
            <a:ext cx="2641550" cy="1761679"/>
          </a:xfrm>
          <a:prstGeom prst="roundRect">
            <a:avLst>
              <a:gd name="adj" fmla="val 43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1556" y="1400621"/>
            <a:ext cx="222803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3400" y="1903512"/>
            <a:ext cx="222803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task decomposition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3400" y="2513112"/>
            <a:ext cx="2228037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down before you begin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3251150" y="1305371"/>
            <a:ext cx="2641550" cy="1494979"/>
          </a:xfrm>
          <a:prstGeom prst="roundRect">
            <a:avLst>
              <a:gd name="adj" fmla="val 50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57907" y="1533971"/>
            <a:ext cx="222803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79750" y="2036862"/>
            <a:ext cx="2228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handoffs explicit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9750" y="2379762"/>
            <a:ext cx="2228037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transitions between tabs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197501" y="1172021"/>
            <a:ext cx="2641550" cy="1761679"/>
          </a:xfrm>
          <a:prstGeom prst="roundRect">
            <a:avLst>
              <a:gd name="adj" fmla="val 43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04257" y="1400621"/>
            <a:ext cx="222803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26101" y="1903512"/>
            <a:ext cx="222803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context boundaries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26101" y="2513112"/>
            <a:ext cx="2228037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tab is responsible for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304800" y="3086100"/>
            <a:ext cx="2641550" cy="1761679"/>
          </a:xfrm>
          <a:prstGeom prst="roundRect">
            <a:avLst>
              <a:gd name="adj" fmla="val 43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11556" y="3314700"/>
            <a:ext cx="222803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33400" y="3817590"/>
            <a:ext cx="222803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clear naming for tabs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3400" y="4427190"/>
            <a:ext cx="2228037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session names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3251150" y="3123456"/>
            <a:ext cx="2641550" cy="1686967"/>
          </a:xfrm>
          <a:prstGeom prst="roundRect">
            <a:avLst>
              <a:gd name="adj" fmla="val 4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57907" y="3352056"/>
            <a:ext cx="222803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479750" y="3854946"/>
            <a:ext cx="2228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over-split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479750" y="4197846"/>
            <a:ext cx="2228037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specialization with overhead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6197501" y="3219450"/>
            <a:ext cx="2641550" cy="1494979"/>
          </a:xfrm>
          <a:prstGeom prst="roundRect">
            <a:avLst>
              <a:gd name="adj" fmla="val 50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404257" y="3448050"/>
            <a:ext cx="222803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426101" y="3950940"/>
            <a:ext cx="2228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truth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26101" y="4293840"/>
            <a:ext cx="2228037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shared data across tabs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57250"/>
            <a:ext cx="9144000" cy="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228600"/>
            <a:ext cx="46925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These Principles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48804" y="1344216"/>
            <a:ext cx="6846243" cy="642789"/>
          </a:xfrm>
          <a:prstGeom prst="roundRect">
            <a:avLst>
              <a:gd name="adj" fmla="val 11855"/>
            </a:avLst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391238" y="1526977"/>
            <a:ext cx="6361375" cy="277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84"/>
              </a:lnSpc>
              <a:buNone/>
            </a:pPr>
            <a:r>
              <a:rPr lang="en-US" sz="15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agent, one job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1148804" y="2185095"/>
            <a:ext cx="3354586" cy="738783"/>
          </a:xfrm>
          <a:prstGeom prst="roundRect">
            <a:avLst>
              <a:gd name="adj" fmla="val 103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172617" y="2185095"/>
            <a:ext cx="0" cy="738783"/>
          </a:xfrm>
          <a:prstGeom prst="line">
            <a:avLst/>
          </a:prstGeom>
          <a:noFill/>
          <a:ln w="47625">
            <a:solidFill>
              <a:srgbClr val="5FA8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4292" y="2352675"/>
            <a:ext cx="303123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isolation is powerful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1334292" y="2585740"/>
            <a:ext cx="3031236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44"/>
              </a:lnSpc>
              <a:spcBef>
                <a:spcPts val="240"/>
              </a:spcBef>
              <a:buNone/>
            </a:pPr>
            <a:r>
              <a:rPr lang="en-US" sz="96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pollution, enables focus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4640461" y="2185095"/>
            <a:ext cx="3354586" cy="738783"/>
          </a:xfrm>
          <a:prstGeom prst="roundRect">
            <a:avLst>
              <a:gd name="adj" fmla="val 103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64273" y="2185095"/>
            <a:ext cx="0" cy="738783"/>
          </a:xfrm>
          <a:prstGeom prst="line">
            <a:avLst/>
          </a:prstGeom>
          <a:noFill/>
          <a:ln w="47625">
            <a:solidFill>
              <a:srgbClr val="5FA8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5948" y="2352675"/>
            <a:ext cx="303123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handoffs are critical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4825948" y="2585740"/>
            <a:ext cx="3031236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44"/>
              </a:lnSpc>
              <a:spcBef>
                <a:spcPts val="240"/>
              </a:spcBef>
              <a:buNone/>
            </a:pPr>
            <a:r>
              <a:rPr lang="en-US" sz="96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artifacts and summaries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1148804" y="3060948"/>
            <a:ext cx="3354586" cy="738783"/>
          </a:xfrm>
          <a:prstGeom prst="roundRect">
            <a:avLst>
              <a:gd name="adj" fmla="val 103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1172617" y="3060948"/>
            <a:ext cx="0" cy="738783"/>
          </a:xfrm>
          <a:prstGeom prst="line">
            <a:avLst/>
          </a:prstGeom>
          <a:noFill/>
          <a:ln w="47625">
            <a:solidFill>
              <a:srgbClr val="5FA8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34292" y="3228529"/>
            <a:ext cx="303123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decomposition enables parallelization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1334292" y="3461593"/>
            <a:ext cx="3031236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44"/>
              </a:lnSpc>
              <a:spcBef>
                <a:spcPts val="240"/>
              </a:spcBef>
              <a:buNone/>
            </a:pPr>
            <a:r>
              <a:rPr lang="en-US" sz="96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down complex workflows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4640461" y="3060948"/>
            <a:ext cx="3354586" cy="738783"/>
          </a:xfrm>
          <a:prstGeom prst="roundRect">
            <a:avLst>
              <a:gd name="adj" fmla="val 103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64273" y="3060948"/>
            <a:ext cx="0" cy="738783"/>
          </a:xfrm>
          <a:prstGeom prst="line">
            <a:avLst/>
          </a:prstGeom>
          <a:noFill/>
          <a:ln w="47625">
            <a:solidFill>
              <a:srgbClr val="5FA8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5948" y="3228529"/>
            <a:ext cx="303123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 pattern for complexity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4825948" y="3461593"/>
            <a:ext cx="3031236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44"/>
              </a:lnSpc>
              <a:spcBef>
                <a:spcPts val="240"/>
              </a:spcBef>
              <a:buNone/>
            </a:pPr>
            <a:r>
              <a:rPr lang="en-US" sz="96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Hub-and-spoke orchestration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1148804" y="3936802"/>
            <a:ext cx="6846243" cy="738783"/>
          </a:xfrm>
          <a:prstGeom prst="roundRect">
            <a:avLst>
              <a:gd name="adj" fmla="val 103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1172617" y="3936802"/>
            <a:ext cx="0" cy="738783"/>
          </a:xfrm>
          <a:prstGeom prst="line">
            <a:avLst/>
          </a:prstGeom>
          <a:noFill/>
          <a:ln w="47625">
            <a:solidFill>
              <a:srgbClr val="5FA8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99375" y="4104382"/>
            <a:ext cx="659272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specialization with overhead</a:t>
            </a:r>
            <a:endParaRPr lang="en-US" sz="1140" dirty="0"/>
          </a:p>
        </p:txBody>
      </p:sp>
      <p:sp>
        <p:nvSpPr>
          <p:cNvPr id="26" name="Text 24"/>
          <p:cNvSpPr/>
          <p:nvPr/>
        </p:nvSpPr>
        <p:spPr>
          <a:xfrm>
            <a:off x="1299375" y="4337447"/>
            <a:ext cx="6592726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44"/>
              </a:lnSpc>
              <a:spcBef>
                <a:spcPts val="240"/>
              </a:spcBef>
              <a:buNone/>
            </a:pPr>
            <a:r>
              <a:rPr lang="en-US" sz="96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right level of decomposition</a:t>
            </a:r>
            <a:endParaRPr lang="en-US" sz="9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11072" y="485477"/>
            <a:ext cx="272170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Up Next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211072" y="957858"/>
            <a:ext cx="272170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4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807666" y="2138958"/>
            <a:ext cx="5528518" cy="2518916"/>
          </a:xfrm>
          <a:prstGeom prst="roundRect">
            <a:avLst>
              <a:gd name="adj" fmla="val 60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18725" y="2596158"/>
            <a:ext cx="470640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337983" y="3388519"/>
            <a:ext cx="246773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22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Data Stores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2218725" y="3883819"/>
            <a:ext cx="4706401" cy="316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96"/>
              </a:lnSpc>
              <a:buNone/>
            </a:pPr>
            <a:r>
              <a:rPr lang="en-US" sz="156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Searchable Inventories and Reference Data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3764459" y="4125516"/>
            <a:ext cx="1614934" cy="560784"/>
          </a:xfrm>
          <a:prstGeom prst="roundRect">
            <a:avLst>
              <a:gd name="adj" fmla="val 13588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59205" y="4277916"/>
            <a:ext cx="1025441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16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3: Multi-Tab Orchestration</dc:title>
  <dc:subject>Managing Multiple Specialized AI Agents</dc:subject>
  <dc:creator>CE101</dc:creator>
  <cp:lastModifiedBy>CE101</cp:lastModifiedBy>
  <cp:revision>1</cp:revision>
  <dcterms:created xsi:type="dcterms:W3CDTF">2025-11-08T17:05:15Z</dcterms:created>
  <dcterms:modified xsi:type="dcterms:W3CDTF">2025-11-08T17:05:15Z</dcterms:modified>
</cp:coreProperties>
</file>