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65" r:id="rId4"/>
    <p:sldId id="266" r:id="rId3"/>
    <p:sldId id="267" r:id="rId2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0291" y="1539329"/>
            <a:ext cx="592341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1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101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610291" y="2263229"/>
            <a:ext cx="592341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2400"/>
              </a:spcAft>
              <a:buNone/>
            </a:pPr>
            <a:r>
              <a:rPr lang="en-US" sz="24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 Core Concepts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0" y="2994720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10291" y="3337620"/>
            <a:ext cx="59234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Effectively with AI Coding Assistants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8098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Context Engineering?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314450"/>
            <a:ext cx="8229600" cy="1249561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314450"/>
            <a:ext cx="0" cy="1249561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150" y="1619250"/>
            <a:ext cx="771410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of providing AI assistants with the right information, in the right format, so they can help you accomplish tasks effectively.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68811"/>
            <a:ext cx="2156841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About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588395"/>
            <a:ext cx="39624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clever prompts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Tricking the AI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queries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4400" y="2868811"/>
            <a:ext cx="203054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About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24400" y="3588395"/>
            <a:ext cx="39624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systems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information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collaboration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5385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Context Engineering Matters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314450"/>
            <a:ext cx="3962400" cy="2882801"/>
          </a:xfrm>
          <a:prstGeom prst="roundRect">
            <a:avLst>
              <a:gd name="adj" fmla="val 2643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192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305050"/>
            <a:ext cx="247745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Good 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711351"/>
            <a:ext cx="33528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wrong assumptions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repeat yourself constantly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miss the mark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 become frustrating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314450"/>
            <a:ext cx="3962400" cy="2882801"/>
          </a:xfrm>
          <a:prstGeom prst="roundRect">
            <a:avLst>
              <a:gd name="adj" fmla="val 2643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0" y="16192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200" y="2305050"/>
            <a:ext cx="211797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Good Context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711351"/>
            <a:ext cx="33528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understands your needs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flows smoothly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are accurate first time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tasks feel manageable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698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Context Strategies</a:t>
            </a:r>
            <a:endParaRPr lang="en-US" sz="3150" dirty="0"/>
          </a:p>
        </p:txBody>
      </p:sp>
      <p:pic>
        <p:nvPicPr>
          <p:cNvPr id="4" name="Image 0" descr="/tmp/rasterized-gradient-bffda9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2050"/>
            <a:ext cx="4000500" cy="1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1466850"/>
            <a:ext cx="173907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62000" y="1957834"/>
            <a:ext cx="34587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add information to the context window</a:t>
            </a:r>
            <a:endParaRPr lang="en-US" sz="1500" dirty="0"/>
          </a:p>
        </p:txBody>
      </p:sp>
      <p:pic>
        <p:nvPicPr>
          <p:cNvPr id="7" name="Image 1" descr="/tmp/rasterized-gradient-ea6bf5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162050"/>
            <a:ext cx="4000500" cy="16339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91100" y="1466850"/>
            <a:ext cx="173907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991100" y="1957834"/>
            <a:ext cx="34587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and retrieve relevant information from available sources</a:t>
            </a:r>
            <a:endParaRPr lang="en-US" sz="1500" dirty="0"/>
          </a:p>
        </p:txBody>
      </p:sp>
      <p:pic>
        <p:nvPicPr>
          <p:cNvPr id="10" name="Image 2" descr="/tmp/rasterized-gradient-89c757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8434"/>
            <a:ext cx="4000500" cy="16339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2000" y="3253234"/>
            <a:ext cx="1875091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Compress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762000" y="3744218"/>
            <a:ext cx="34587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 information efficiently without losing key details</a:t>
            </a:r>
            <a:endParaRPr lang="en-US" sz="1500" dirty="0"/>
          </a:p>
        </p:txBody>
      </p:sp>
      <p:pic>
        <p:nvPicPr>
          <p:cNvPr id="13" name="Image 3" descr="/tmp/rasterized-gradient-fe1d75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948434"/>
            <a:ext cx="4000500" cy="16339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91100" y="3253234"/>
            <a:ext cx="173907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4991100" y="3744218"/>
            <a:ext cx="34587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contexts for clarity and specialized focus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af9f4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1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571500"/>
            <a:ext cx="42068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Write: Create Context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04800" y="1428750"/>
            <a:ext cx="20985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800" y="1995934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explicit information that the AI needs but doesn't have.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834134"/>
            <a:ext cx="288550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Examples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4800" y="3401318"/>
            <a:ext cx="386715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files and architecture docs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style guides and patterns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76750" y="1487686"/>
            <a:ext cx="4362450" cy="2426196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95800" y="1487686"/>
            <a:ext cx="0" cy="2426196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3450" y="1716286"/>
            <a:ext cx="1981962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43450" y="2283470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once, reference forever.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43450" y="2550170"/>
            <a:ext cx="3867150" cy="1135112"/>
          </a:xfrm>
          <a:prstGeom prst="roundRect">
            <a:avLst>
              <a:gd name="adj" fmla="val 6713"/>
            </a:avLst>
          </a:prstGeom>
          <a:solidFill>
            <a:srgbClr val="FFFFFF"/>
          </a:solidFill>
          <a:ln w="19050">
            <a:solidFill>
              <a:srgbClr val="1B49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91100" y="2797820"/>
            <a:ext cx="34392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docs/conventions.md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91100" y="3011091"/>
            <a:ext cx="34392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91100" y="3224361"/>
            <a:ext cx="34392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examples/patterns/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1239f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2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571500"/>
            <a:ext cx="64025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Select: Choose Relevant Context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04800" y="1428750"/>
            <a:ext cx="20985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800" y="1995934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in only the information needed for the current task.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834134"/>
            <a:ext cx="204025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Practices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4800" y="3401318"/>
            <a:ext cx="386715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sessions in the right directory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specific files clearly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76750" y="1921818"/>
            <a:ext cx="4362450" cy="1557784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95800" y="1921818"/>
            <a:ext cx="0" cy="1557784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3450" y="2150418"/>
            <a:ext cx="1981962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43450" y="2717602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filesystem structure IS your context architecture.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b8b61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3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571500"/>
            <a:ext cx="54892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Compress: Efficient Context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04800" y="1428750"/>
            <a:ext cx="20985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800" y="1995934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 information thoughtfully without losing critical details.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834134"/>
            <a:ext cx="1981962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4800" y="3401318"/>
            <a:ext cx="386715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summaries and inventories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structured formats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76750" y="1578918"/>
            <a:ext cx="4362450" cy="2243584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95800" y="1578918"/>
            <a:ext cx="0" cy="2243584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3450" y="1807518"/>
            <a:ext cx="2166557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43450" y="2374702"/>
            <a:ext cx="386715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762500" y="2374702"/>
            <a:ext cx="0" cy="9906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10150" y="2603302"/>
            <a:ext cx="343928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cheap, clarity is expensive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eab67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4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571500"/>
            <a:ext cx="51297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Isolate: Separate Contexts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04800" y="1428750"/>
            <a:ext cx="20985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800" y="1995934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separate sessions for different tasks. Prevents context pollution.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834134"/>
            <a:ext cx="230257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Isolate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4800" y="3401318"/>
            <a:ext cx="386715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projects or services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work vs production code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76750" y="1685627"/>
            <a:ext cx="4362450" cy="2030164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95800" y="1685627"/>
            <a:ext cx="0" cy="2030164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3450" y="1914227"/>
            <a:ext cx="210826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43450" y="2481411"/>
            <a:ext cx="3867150" cy="777180"/>
          </a:xfrm>
          <a:prstGeom prst="roundRect">
            <a:avLst>
              <a:gd name="adj" fmla="val 9805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937951" y="2710011"/>
            <a:ext cx="347814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Job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5378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 to Remember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162050"/>
            <a:ext cx="4000500" cy="990600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162050"/>
            <a:ext cx="0" cy="9906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50"/>
            <a:ext cx="355587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writing prompts, start engineering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86300" y="1295400"/>
            <a:ext cx="4000500" cy="723900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14875" y="1295400"/>
            <a:ext cx="0" cy="7239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72050" y="1524000"/>
            <a:ext cx="355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job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305050"/>
            <a:ext cx="4000500" cy="723900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5775" y="2305050"/>
            <a:ext cx="0" cy="72390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950" y="2533650"/>
            <a:ext cx="355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filesystem is your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6300" y="2305050"/>
            <a:ext cx="4000500" cy="723900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14875" y="2305050"/>
            <a:ext cx="0" cy="72390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2050" y="2533650"/>
            <a:ext cx="355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searchable ground truth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181350"/>
            <a:ext cx="8229600" cy="883890"/>
          </a:xfrm>
          <a:prstGeom prst="roundRect">
            <a:avLst>
              <a:gd name="adj" fmla="val 8621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8076" y="3409950"/>
            <a:ext cx="792784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cheap, clarity is expensive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152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Example: Adding a New Feature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16205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Add authentication to an API service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57350"/>
            <a:ext cx="4038600" cy="805904"/>
          </a:xfrm>
          <a:prstGeom prst="roundRect">
            <a:avLst>
              <a:gd name="adj" fmla="val 9455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809750"/>
            <a:ext cx="183623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97584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docs/auth-requirements.md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48200" y="1657350"/>
            <a:ext cx="4038600" cy="805904"/>
          </a:xfrm>
          <a:prstGeom prst="roundRect">
            <a:avLst>
              <a:gd name="adj" fmla="val 9455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09750"/>
            <a:ext cx="183623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76800" y="2097584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to examples/auth/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15654"/>
            <a:ext cx="4038600" cy="805904"/>
          </a:xfrm>
          <a:prstGeom prst="roundRect">
            <a:avLst>
              <a:gd name="adj" fmla="val 9455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2768054"/>
            <a:ext cx="183623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Compress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055888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API inventory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8200" y="2615654"/>
            <a:ext cx="4038600" cy="805904"/>
          </a:xfrm>
          <a:prstGeom prst="roundRect">
            <a:avLst>
              <a:gd name="adj" fmla="val 9455"/>
            </a:avLst>
          </a:prstGeom>
          <a:solidFill>
            <a:srgbClr val="2C5F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6800" y="2768054"/>
            <a:ext cx="183623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76800" y="3055888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tabs for auth vs testing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650159"/>
            <a:ext cx="8229600" cy="723900"/>
          </a:xfrm>
          <a:prstGeom prst="roundRect">
            <a:avLst>
              <a:gd name="adj" fmla="val 10526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6250" y="3650159"/>
            <a:ext cx="0" cy="72390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900" y="3878759"/>
            <a:ext cx="788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context and reusable patterns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4011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Journey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04800" y="1268909"/>
            <a:ext cx="230257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 Modules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1836093"/>
            <a:ext cx="3886200" cy="571500"/>
          </a:xfrm>
          <a:prstGeom prst="roundRect">
            <a:avLst>
              <a:gd name="adj" fmla="val 6667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98849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Core Concepts ←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559993"/>
            <a:ext cx="3886200" cy="57150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71239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Filesystem Organization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" y="3283893"/>
            <a:ext cx="3886200" cy="57150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343629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Multi-Tab Orchestration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4800" y="4007793"/>
            <a:ext cx="3886200" cy="57150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416019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Local Data Stores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8200" y="1985218"/>
            <a:ext cx="4495800" cy="2030164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3000" y="2213818"/>
            <a:ext cx="1991677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53000" y="2781002"/>
            <a:ext cx="39639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Organization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53000" y="3253383"/>
            <a:ext cx="39639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structure your directories as natural context architecture.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Module 2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Filesystem Organization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66850"/>
            <a:ext cx="8001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1500"/>
              </a:spcAft>
              <a:buSzPct val="100000"/>
              <a:buChar char="•"/>
            </a:pPr>
            <a:pPr algn="l" indent="0" marL="0">
              <a:lnSpc>
                <a:spcPts val="21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76300" y="14668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assistants navigate and understand file hierarchies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6300" y="19621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directory organization patterns for better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6300" y="24574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conventions that communicate intent clearly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6300" y="29527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 of "starting in the right place"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6300" y="34480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placement and discovery strategies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8025" y="141238"/>
            <a:ext cx="416795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Filesystem IS Your Context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85800" y="2106960"/>
            <a:ext cx="7772400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65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you organize files directly affects how AI assistants understand your codebase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90179" y="3804940"/>
            <a:ext cx="1721197" cy="607665"/>
          </a:xfrm>
          <a:prstGeom prst="roundRect">
            <a:avLst>
              <a:gd name="adj" fmla="val 1254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5001" y="3995440"/>
            <a:ext cx="121155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Structure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214271" y="397549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11476" y="3804940"/>
            <a:ext cx="1721197" cy="607665"/>
          </a:xfrm>
          <a:prstGeom prst="roundRect">
            <a:avLst>
              <a:gd name="adj" fmla="val 12540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66298" y="3995440"/>
            <a:ext cx="1211553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Layers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735568" y="397549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32773" y="3691682"/>
            <a:ext cx="1721197" cy="834330"/>
          </a:xfrm>
          <a:prstGeom prst="roundRect">
            <a:avLst>
              <a:gd name="adj" fmla="val 9133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7595" y="3882182"/>
            <a:ext cx="1211553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Understanding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66356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Context Through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733550"/>
            <a:ext cx="36957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8D9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1981200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8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9150" y="2438400"/>
            <a:ext cx="3200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9150" y="2438400"/>
            <a:ext cx="32644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by concern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beats separation by 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9150" y="3162300"/>
            <a:ext cx="32644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grouping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beats alphabetical sorting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9150" y="3886200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things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be together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76800" y="1236464"/>
            <a:ext cx="3695700" cy="1678186"/>
          </a:xfrm>
          <a:prstGeom prst="roundRect">
            <a:avLst>
              <a:gd name="adj" fmla="val 4541"/>
            </a:avLst>
          </a:prstGeom>
          <a:solidFill>
            <a:srgbClr val="FF6F59">
              <a:alpha val="10000"/>
            </a:srgbClr>
          </a:solidFill>
          <a:ln w="19050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24450" y="1484114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TYPE-BASED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4450" y="1788914"/>
            <a:ext cx="3264408" cy="878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/models/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/controllers/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/views/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/tests/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876800" y="3219450"/>
            <a:ext cx="3695700" cy="1678186"/>
          </a:xfrm>
          <a:prstGeom prst="roundRect">
            <a:avLst>
              <a:gd name="adj" fmla="val 4541"/>
            </a:avLst>
          </a:prstGeom>
          <a:solidFill>
            <a:srgbClr val="5FA8D3">
              <a:alpha val="10000"/>
            </a:srgbClr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24450" y="3467100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CONCERN-BASED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4450" y="3771900"/>
            <a:ext cx="3264408" cy="878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/user-management/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/payment-processing/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/notification-service/</a:t>
            </a:r>
            <a:endParaRPr lang="en-US" sz="108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/analytics/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33375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752475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526256"/>
            <a:ext cx="3695700" cy="4319736"/>
          </a:xfrm>
          <a:prstGeom prst="roundRect">
            <a:avLst>
              <a:gd name="adj" fmla="val 2062"/>
            </a:avLst>
          </a:prstGeom>
          <a:solidFill>
            <a:srgbClr val="FF6F59">
              <a:alpha val="15000"/>
            </a:srgbClr>
          </a:solidFill>
          <a:ln w="19050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697706"/>
            <a:ext cx="3419856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050"/>
              </a:spcAft>
              <a:buNone/>
            </a:pPr>
            <a:r>
              <a:rPr lang="en-US" sz="16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pPr algn="l" indent="0" marL="0">
              <a:lnSpc>
                <a:spcPts val="198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Poor Structure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2950" y="1082427"/>
            <a:ext cx="3352800" cy="24003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6300" y="1215777"/>
            <a:ext cx="3147822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file1.py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file2.py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utils.py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helpers.py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stuff.py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main.py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config.yaml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2950" y="3616077"/>
            <a:ext cx="3352800" cy="10584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95350" y="3646438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hierarchy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5350" y="4011960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naming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5350" y="4377482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concerns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76800" y="526256"/>
            <a:ext cx="3695700" cy="4319736"/>
          </a:xfrm>
          <a:prstGeom prst="roundRect">
            <a:avLst>
              <a:gd name="adj" fmla="val 2062"/>
            </a:avLst>
          </a:prstGeom>
          <a:solidFill>
            <a:srgbClr val="5FA8D3">
              <a:alpha val="15000"/>
            </a:srgbClr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0" y="697706"/>
            <a:ext cx="3419856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050"/>
              </a:spcAft>
              <a:buNone/>
            </a:pPr>
            <a:r>
              <a:rPr lang="en-US" sz="16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98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Structure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48250" y="1082427"/>
            <a:ext cx="3352800" cy="24003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81600" y="1215777"/>
            <a:ext cx="3147822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src/api/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src/models/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src/services/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config/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tests/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docs/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README.md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48250" y="3616077"/>
            <a:ext cx="3352800" cy="10584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00650" y="3646438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hierarchy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0650" y="4011960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Intent-driven naming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00650" y="4377482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40"/>
              </a:spcBef>
              <a:spcAft>
                <a:spcPts val="240"/>
              </a:spcAft>
              <a:buNone/>
            </a:pPr>
            <a:r>
              <a:rPr lang="en-US" sz="1500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grouping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58973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Placement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80010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938213"/>
            <a:ext cx="8001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938213"/>
            <a:ext cx="0" cy="914400"/>
          </a:xfrm>
          <a:prstGeom prst="line">
            <a:avLst/>
          </a:prstGeom>
          <a:noFill/>
          <a:ln w="47625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5825" y="1128713"/>
            <a:ext cx="756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README.md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5825" y="1433513"/>
            <a:ext cx="756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overview, getting started, high-level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005013"/>
            <a:ext cx="7620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76313" y="2005013"/>
            <a:ext cx="0" cy="914400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2195513"/>
            <a:ext cx="7179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README.md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6825" y="2500313"/>
            <a:ext cx="7179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or component details, API documentation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33500" y="3071813"/>
            <a:ext cx="72390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357313" y="3071813"/>
            <a:ext cx="0" cy="914400"/>
          </a:xfrm>
          <a:prstGeom prst="line">
            <a:avLst/>
          </a:prstGeom>
          <a:noFill/>
          <a:ln w="47625">
            <a:solidFill>
              <a:srgbClr val="FF6F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7825" y="3262313"/>
            <a:ext cx="6791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README.md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7825" y="3567113"/>
            <a:ext cx="6791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notes, patterns, edge cases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" y="4252913"/>
            <a:ext cx="8001000" cy="504825"/>
          </a:xfrm>
          <a:prstGeom prst="roundRect">
            <a:avLst>
              <a:gd name="adj" fmla="val 15094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4662" y="4405313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level provides context</a:t>
            </a:r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appropriate to its scope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3532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Patterns That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58478"/>
            <a:ext cx="3848100" cy="1363861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177528"/>
            <a:ext cx="3848100" cy="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425178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Monorepo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" y="1806178"/>
            <a:ext cx="345871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related services under /services/ or /packages/ with shared tooling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4400" y="1158478"/>
            <a:ext cx="3848100" cy="1363861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4400" y="1177528"/>
            <a:ext cx="384810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0" y="1425178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Infrastructure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53000" y="1806178"/>
            <a:ext cx="345871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IaC by environment (/prod, /staging) or by resource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" y="2827139"/>
            <a:ext cx="816102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Directory Placements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71500" y="3230910"/>
            <a:ext cx="2463850" cy="731341"/>
          </a:xfrm>
          <a:prstGeom prst="roundRect">
            <a:avLst>
              <a:gd name="adj" fmla="val 10419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383310"/>
            <a:ext cx="204678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/docs/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Comprehensive documentation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40150" y="3230910"/>
            <a:ext cx="2463850" cy="731341"/>
          </a:xfrm>
          <a:prstGeom prst="roundRect">
            <a:avLst>
              <a:gd name="adj" fmla="val 10419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68750" y="3383310"/>
            <a:ext cx="204678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/examples/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Usage patterns and samples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08799" y="3337471"/>
            <a:ext cx="2463850" cy="518071"/>
          </a:xfrm>
          <a:prstGeom prst="roundRect">
            <a:avLst>
              <a:gd name="adj" fmla="val 14708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37399" y="3489871"/>
            <a:ext cx="20467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/config/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Configuration files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" y="4267051"/>
            <a:ext cx="8001000" cy="518071"/>
          </a:xfrm>
          <a:prstGeom prst="roundRect">
            <a:avLst>
              <a:gd name="adj" fmla="val 14708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0100" y="4419451"/>
            <a:ext cx="76946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/tests/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Test suites and fixtures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828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as a Teaching Tool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847725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44029"/>
            <a:ext cx="3695700" cy="1287661"/>
          </a:xfrm>
          <a:prstGeom prst="roundRect">
            <a:avLst>
              <a:gd name="adj" fmla="val 5918"/>
            </a:avLst>
          </a:prstGeom>
          <a:solidFill>
            <a:srgbClr val="5FA8D3">
              <a:alpha val="15000"/>
            </a:srgbClr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253579"/>
            <a:ext cx="3342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050" y="1634579"/>
            <a:ext cx="334213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examples directory teaches AI assistants and humans your patterns and best practices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484090"/>
            <a:ext cx="3695700" cy="216783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9050">
            <a:solidFill>
              <a:srgbClr val="C8D9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1050" y="2693640"/>
            <a:ext cx="334213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Include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1050" y="3032671"/>
            <a:ext cx="3276600" cy="1409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1550" y="3032671"/>
            <a:ext cx="31478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configurations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1550" y="3413671"/>
            <a:ext cx="31478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usage patterns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1550" y="3794671"/>
            <a:ext cx="31478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implementations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1550" y="4175671"/>
            <a:ext cx="31478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handling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76800" y="1321147"/>
            <a:ext cx="3695700" cy="239643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9050">
            <a:solidFill>
              <a:srgbClr val="C8D9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86350" y="1530697"/>
            <a:ext cx="334213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86350" y="1869728"/>
            <a:ext cx="3276600" cy="1638300"/>
          </a:xfrm>
          <a:prstGeom prst="roundRect">
            <a:avLst>
              <a:gd name="adj" fmla="val 2326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38750" y="2022128"/>
            <a:ext cx="303123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basic/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advanced/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common-issues/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README.md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76800" y="3869978"/>
            <a:ext cx="3695700" cy="504825"/>
          </a:xfrm>
          <a:prstGeom prst="roundRect">
            <a:avLst>
              <a:gd name="adj" fmla="val 15094"/>
            </a:avLst>
          </a:prstGeom>
          <a:solidFill>
            <a:srgbClr val="FF6F5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895850" y="3869978"/>
            <a:ext cx="0" cy="504825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5400" y="4022378"/>
            <a:ext cx="33421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Examples are often the first place AI looks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6051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Intentions Obvious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23988"/>
            <a:ext cx="36957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8D9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1671638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9150" y="2052637"/>
            <a:ext cx="32004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7750" y="2052637"/>
            <a:ext cx="3031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descriptive, not clever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50" y="2471738"/>
            <a:ext cx="3031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consistent patterns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7750" y="2890838"/>
            <a:ext cx="3031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 purpose in the name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7750" y="3309938"/>
            <a:ext cx="30312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abbreviations unless standard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6800" y="676275"/>
            <a:ext cx="3695700" cy="1600200"/>
          </a:xfrm>
          <a:prstGeom prst="roundRect">
            <a:avLst>
              <a:gd name="adj" fmla="val 4762"/>
            </a:avLst>
          </a:prstGeom>
          <a:solidFill>
            <a:srgbClr val="FF6F5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67300" y="866775"/>
            <a:ext cx="33809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Unclear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67300" y="1171575"/>
            <a:ext cx="33809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data.json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utils.py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helper.js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temp_file.txt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876800" y="2505075"/>
            <a:ext cx="3695700" cy="1600200"/>
          </a:xfrm>
          <a:prstGeom prst="roundRect">
            <a:avLst>
              <a:gd name="adj" fmla="val 4762"/>
            </a:avLst>
          </a:prstGeom>
          <a:solidFill>
            <a:srgbClr val="5F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67300" y="2695575"/>
            <a:ext cx="33809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67300" y="3000375"/>
            <a:ext cx="33809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user-preferences.json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string-formatters.py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api-client.js</a:t>
            </a:r>
            <a:endParaRPr lang="en-US" sz="1125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backup-2024-11-08.txt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876800" y="4333875"/>
            <a:ext cx="3695700" cy="504825"/>
          </a:xfrm>
          <a:prstGeom prst="roundRect">
            <a:avLst>
              <a:gd name="adj" fmla="val 15094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95291" y="4486275"/>
            <a:ext cx="3458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name answers:</a:t>
            </a:r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What, Why, and When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in the Right Place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80010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795338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795338"/>
            <a:ext cx="0" cy="723900"/>
          </a:xfrm>
          <a:prstGeom prst="line">
            <a:avLst/>
          </a:prstGeom>
          <a:noFill/>
          <a:ln w="47625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5825" y="9858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4292" y="102393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1125" y="1042988"/>
            <a:ext cx="4033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 over configuration</a:t>
            </a:r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Use standard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1671638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5313" y="1671638"/>
            <a:ext cx="0" cy="723900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621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4292" y="190023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81125" y="1919288"/>
            <a:ext cx="467391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related things together</a:t>
            </a:r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Co-locate files that change together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" y="2547938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5313" y="2547938"/>
            <a:ext cx="0" cy="723900"/>
          </a:xfrm>
          <a:prstGeom prst="line">
            <a:avLst/>
          </a:prstGeom>
          <a:noFill/>
          <a:ln w="47625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5825" y="27384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4292" y="277653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81125" y="2795588"/>
            <a:ext cx="47864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path obvious</a:t>
            </a:r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Structure should guide you to the right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" y="3424238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5313" y="3424238"/>
            <a:ext cx="0" cy="723900"/>
          </a:xfrm>
          <a:prstGeom prst="line">
            <a:avLst/>
          </a:prstGeom>
          <a:noFill/>
          <a:ln w="47625">
            <a:solidFill>
              <a:srgbClr val="5A7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825" y="361473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5A7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04292" y="365283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81125" y="3671888"/>
            <a:ext cx="54258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structure to prevent mistakes</a:t>
            </a:r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Good organization catches errors early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" y="4300538"/>
            <a:ext cx="8001000" cy="504825"/>
          </a:xfrm>
          <a:prstGeom prst="roundRect">
            <a:avLst>
              <a:gd name="adj" fmla="val 15094"/>
            </a:avLst>
          </a:prstGeom>
          <a:solidFill>
            <a:srgbClr val="5FA8D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3524" y="4452938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Document the "why" of your organization in README files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52075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Principles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71550"/>
            <a:ext cx="571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623417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1623417"/>
            <a:ext cx="0" cy="8608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6300" y="1813917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</a:t>
            </a:r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is your primary context tool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2636639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0550" y="2636639"/>
            <a:ext cx="0" cy="860822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6300" y="2827139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communicates intent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both AI and humans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71500" y="3649861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3649861"/>
            <a:ext cx="0" cy="860822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6300" y="3840361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grouping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aids AI understanding dramatically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76800" y="1743373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95850" y="1743373"/>
            <a:ext cx="0" cy="860822"/>
          </a:xfrm>
          <a:prstGeom prst="line">
            <a:avLst/>
          </a:prstGeom>
          <a:noFill/>
          <a:ln w="38100">
            <a:solidFill>
              <a:srgbClr val="5A7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1600" y="1933873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</a:t>
            </a:r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5A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READMEs at every level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context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76800" y="2756595"/>
            <a:ext cx="3695700" cy="620911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95850" y="2756595"/>
            <a:ext cx="0" cy="620911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600" y="2947095"/>
            <a:ext cx="31866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teach patterns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effectively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6800" y="3529905"/>
            <a:ext cx="3695700" cy="860822"/>
          </a:xfrm>
          <a:prstGeom prst="roundRect">
            <a:avLst>
              <a:gd name="adj" fmla="val 88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95850" y="3529905"/>
            <a:ext cx="0" cy="8608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1600" y="3720405"/>
            <a:ext cx="318668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is crucial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your codebase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Module 3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Multi-Tab Orchestration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859435" y="2343150"/>
            <a:ext cx="3424982" cy="1485900"/>
          </a:xfrm>
          <a:prstGeom prst="rect">
            <a:avLst/>
          </a:prstGeom>
          <a:noFill/>
          <a:ln/>
        </p:spPr>
        <p:txBody>
          <a:bodyPr wrap="square" lIns="106680" tIns="0" rIns="0" bIns="0" rtlCol="0" anchor="t"/>
          <a:lstStyle/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multiple tabs/sessions</a:t>
            </a:r>
            <a:endParaRPr lang="en-US" sz="1350" dirty="0"/>
          </a:p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patterns and workflows</a:t>
            </a:r>
            <a:endParaRPr lang="en-US" sz="1350" dirty="0"/>
          </a:p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between isolated contexts</a:t>
            </a:r>
            <a:endParaRPr lang="en-US" sz="1350" dirty="0"/>
          </a:p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strategies and artifacts</a:t>
            </a:r>
            <a:endParaRPr lang="en-US" sz="1350" dirty="0"/>
          </a:p>
          <a:p>
            <a:pPr algn="ctr" marL="106680" indent="-10668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vs sequential task decomposition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1503" y="84981"/>
            <a:ext cx="7480846" cy="1295400"/>
          </a:xfrm>
          <a:prstGeom prst="roundRect">
            <a:avLst>
              <a:gd name="adj" fmla="val 11765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23038" y="389781"/>
            <a:ext cx="6697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Job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71575" y="1875681"/>
            <a:ext cx="68008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8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beats generalization when managing complex workflows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42481"/>
            <a:ext cx="3886200" cy="2115889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0657" y="3352056"/>
            <a:ext cx="34392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0657" y="4068217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0657" y="4456807"/>
            <a:ext cx="343928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Focused, efficient, parallel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800600" y="2942481"/>
            <a:ext cx="3886200" cy="2115889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2857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4057" y="3352056"/>
            <a:ext cx="34392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4057" y="4068217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Overloaded 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4057" y="4456807"/>
            <a:ext cx="343928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Context-polluted, slow</a:t>
            </a:r>
            <a:endParaRPr lang="en-US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50617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Separate Contexts Matter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907703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3375" y="907703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1060103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context pollution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514350" y="1314450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stays focused on its task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304800" y="1754684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3375" y="1754684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1907084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specialization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514350" y="2161431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contexts for different expertise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04800" y="2601664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3375" y="2601664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350" y="2754064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parallel work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514350" y="3008412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multiple tasks simultaneously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04800" y="3448645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33375" y="3448645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350" y="3601045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focus per task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514350" y="3855393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cognitive overload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04800" y="4295626"/>
            <a:ext cx="6324600" cy="740420"/>
          </a:xfrm>
          <a:prstGeom prst="roundRect">
            <a:avLst>
              <a:gd name="adj" fmla="val 102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33375" y="4295626"/>
            <a:ext cx="0" cy="74042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" y="4448026"/>
            <a:ext cx="608190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spcAft>
                <a:spcPts val="24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manage complexity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514350" y="4702373"/>
            <a:ext cx="608190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complex problems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934200" y="1690241"/>
            <a:ext cx="1905000" cy="1190179"/>
          </a:xfrm>
          <a:prstGeom prst="roundRect">
            <a:avLst>
              <a:gd name="adj" fmla="val 6402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48322" y="1918841"/>
            <a:ext cx="1476756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96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7148322" y="2449116"/>
            <a:ext cx="147675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spcBef>
                <a:spcPts val="480"/>
              </a:spcBef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6934200" y="3063180"/>
            <a:ext cx="1905000" cy="1190179"/>
          </a:xfrm>
          <a:prstGeom prst="roundRect">
            <a:avLst>
              <a:gd name="adj" fmla="val 6402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48322" y="3291780"/>
            <a:ext cx="1476756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96"/>
              </a:lnSpc>
              <a:buNone/>
            </a:pPr>
            <a:r>
              <a:rPr lang="en-US" sz="264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🌀</a:t>
            </a:r>
            <a:endParaRPr lang="en-US" sz="2640" dirty="0"/>
          </a:p>
        </p:txBody>
      </p:sp>
      <p:sp>
        <p:nvSpPr>
          <p:cNvPr id="30" name="Text 28"/>
          <p:cNvSpPr/>
          <p:nvPr/>
        </p:nvSpPr>
        <p:spPr>
          <a:xfrm>
            <a:off x="7148322" y="3822055"/>
            <a:ext cx="147675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spcBef>
                <a:spcPts val="480"/>
              </a:spcBef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11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66648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Framework: One Tab or Many?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394371"/>
            <a:ext cx="4114800" cy="2434233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77157" y="1697236"/>
            <a:ext cx="1170087" cy="324445"/>
          </a:xfrm>
          <a:prstGeom prst="roundRect">
            <a:avLst>
              <a:gd name="adj" fmla="val 14092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20904" y="1758107"/>
            <a:ext cx="88259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TAB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7665" y="2143571"/>
            <a:ext cx="3509070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related tasks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workflow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context needed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2575" y="3141762"/>
            <a:ext cx="357925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Bef>
                <a:spcPts val="960"/>
              </a:spcBef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4724400" y="1241971"/>
            <a:ext cx="4114800" cy="2739033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28575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61472" y="1544836"/>
            <a:ext cx="1440656" cy="324445"/>
          </a:xfrm>
          <a:prstGeom prst="roundRect">
            <a:avLst>
              <a:gd name="adj" fmla="val 14092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02513" y="1605707"/>
            <a:ext cx="1158573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TABS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5027265" y="1991171"/>
            <a:ext cx="3509070" cy="11811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Complex, distinct tasks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development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+ production</a:t>
            </a:r>
            <a:endParaRPr lang="en-US" sz="1350" dirty="0"/>
          </a:p>
          <a:p>
            <a:pPr algn="ctr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specializations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92175" y="3294162"/>
            <a:ext cx="357925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Bef>
                <a:spcPts val="960"/>
              </a:spcBef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60" dirty="0"/>
          </a:p>
        </p:txBody>
      </p:sp>
      <p:sp>
        <p:nvSpPr>
          <p:cNvPr id="15" name="Text 13"/>
          <p:cNvSpPr/>
          <p:nvPr/>
        </p:nvSpPr>
        <p:spPr>
          <a:xfrm>
            <a:off x="1229618" y="4209604"/>
            <a:ext cx="6684764" cy="568226"/>
          </a:xfrm>
          <a:prstGeom prst="roundRect">
            <a:avLst>
              <a:gd name="adj" fmla="val 13410"/>
            </a:avLst>
          </a:prstGeom>
          <a:solidFill>
            <a:srgbClr val="E8F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258193" y="4209604"/>
            <a:ext cx="0" cy="568226"/>
          </a:xfrm>
          <a:prstGeom prst="line">
            <a:avLst/>
          </a:prstGeom>
          <a:noFill/>
          <a:ln w="57150">
            <a:solidFill>
              <a:srgbClr val="1B49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3664" y="4392364"/>
            <a:ext cx="629382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</a:t>
            </a:r>
            <a:pPr algn="ct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tasks need different mental models or can run independently, split them.</a:t>
            </a:r>
            <a:endParaRPr lang="en-US" sz="11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Workflow Patterns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232595"/>
            <a:ext cx="4114800" cy="1355973"/>
          </a:xfrm>
          <a:prstGeom prst="roundRect">
            <a:avLst>
              <a:gd name="adj" fmla="val 56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1251645"/>
            <a:ext cx="411480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704" y="1468785"/>
            <a:ext cx="37929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Aft>
                <a:spcPts val="480"/>
              </a:spcAft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→ 🔨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465704" y="1913632"/>
            <a:ext cx="379299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spcAft>
                <a:spcPts val="48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465704" y="2198489"/>
            <a:ext cx="379299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tab → Implementation tab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724400" y="1232595"/>
            <a:ext cx="4114800" cy="1355973"/>
          </a:xfrm>
          <a:prstGeom prst="roundRect">
            <a:avLst>
              <a:gd name="adj" fmla="val 56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24400" y="1251645"/>
            <a:ext cx="411480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5304" y="1468785"/>
            <a:ext cx="37929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Aft>
                <a:spcPts val="480"/>
              </a:spcAft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| 🐛</a:t>
            </a:r>
            <a:endParaRPr lang="en-US" sz="2160" dirty="0"/>
          </a:p>
        </p:txBody>
      </p:sp>
      <p:sp>
        <p:nvSpPr>
          <p:cNvPr id="13" name="Text 11"/>
          <p:cNvSpPr/>
          <p:nvPr/>
        </p:nvSpPr>
        <p:spPr>
          <a:xfrm>
            <a:off x="4885304" y="1913632"/>
            <a:ext cx="379299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spcAft>
                <a:spcPts val="48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4885304" y="2198489"/>
            <a:ext cx="379299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tab + Debugging tab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04800" y="2740968"/>
            <a:ext cx="4114800" cy="1355973"/>
          </a:xfrm>
          <a:prstGeom prst="roundRect">
            <a:avLst>
              <a:gd name="adj" fmla="val 56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4800" y="2760018"/>
            <a:ext cx="41148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704" y="2977158"/>
            <a:ext cx="37929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Aft>
                <a:spcPts val="480"/>
              </a:spcAft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| 📱</a:t>
            </a:r>
            <a:endParaRPr lang="en-US" sz="2160" dirty="0"/>
          </a:p>
        </p:txBody>
      </p:sp>
      <p:sp>
        <p:nvSpPr>
          <p:cNvPr id="18" name="Text 16"/>
          <p:cNvSpPr/>
          <p:nvPr/>
        </p:nvSpPr>
        <p:spPr>
          <a:xfrm>
            <a:off x="465704" y="3422005"/>
            <a:ext cx="379299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spcAft>
                <a:spcPts val="48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465704" y="3706862"/>
            <a:ext cx="379299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tab + Application tab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724400" y="2740968"/>
            <a:ext cx="4114800" cy="1355973"/>
          </a:xfrm>
          <a:prstGeom prst="roundRect">
            <a:avLst>
              <a:gd name="adj" fmla="val 56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24400" y="2760018"/>
            <a:ext cx="41148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5304" y="2977158"/>
            <a:ext cx="37929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Aft>
                <a:spcPts val="480"/>
              </a:spcAft>
              <a:buNone/>
            </a:pPr>
            <a:r>
              <a:rPr lang="en-US" sz="216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| 🚀</a:t>
            </a:r>
            <a:endParaRPr lang="en-US" sz="2160" dirty="0"/>
          </a:p>
        </p:txBody>
      </p:sp>
      <p:sp>
        <p:nvSpPr>
          <p:cNvPr id="23" name="Text 21"/>
          <p:cNvSpPr/>
          <p:nvPr/>
        </p:nvSpPr>
        <p:spPr>
          <a:xfrm>
            <a:off x="4885304" y="3422005"/>
            <a:ext cx="379299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spcAft>
                <a:spcPts val="480"/>
              </a:spcAft>
              <a:buNone/>
            </a:pPr>
            <a:r>
              <a:rPr lang="en-US" sz="12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85304" y="3706862"/>
            <a:ext cx="379299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tab + Production tab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04800" y="4249341"/>
            <a:ext cx="8534400" cy="537865"/>
          </a:xfrm>
          <a:prstGeom prst="roundRect">
            <a:avLst>
              <a:gd name="adj" fmla="val 14167"/>
            </a:avLst>
          </a:prstGeom>
          <a:solidFill>
            <a:srgbClr val="E8F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2628" y="4416921"/>
            <a:ext cx="823874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patterns that match your workflow's natural structure</a:t>
            </a:r>
            <a:endParaRPr lang="en-US" sz="11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9840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Orchestrating Multiple Agents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607790"/>
            <a:ext cx="4838700" cy="734467"/>
          </a:xfrm>
          <a:prstGeom prst="roundRect">
            <a:avLst>
              <a:gd name="adj" fmla="val 10375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9585" y="1836390"/>
            <a:ext cx="4469130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4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Coordinator Pattern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304800" y="2570857"/>
            <a:ext cx="4838700" cy="1181100"/>
          </a:xfrm>
          <a:prstGeom prst="rect">
            <a:avLst/>
          </a:prstGeom>
          <a:noFill/>
          <a:ln/>
        </p:spPr>
        <p:txBody>
          <a:bodyPr wrap="square" lIns="83820" tIns="0" rIns="0" bIns="0" rtlCol="0" anchor="t"/>
          <a:lstStyle/>
          <a:p>
            <a:pPr algn="l" marL="83820" indent="-8382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tab manages overall workflow</a:t>
            </a:r>
            <a:endParaRPr lang="en-US" sz="1350" dirty="0"/>
          </a:p>
          <a:p>
            <a:pPr algn="l" marL="83820" indent="-8382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tabs handle specific tasks</a:t>
            </a:r>
            <a:endParaRPr lang="en-US" sz="1350" dirty="0"/>
          </a:p>
          <a:p>
            <a:pPr algn="l" marL="83820" indent="-8382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aggregates results</a:t>
            </a:r>
            <a:endParaRPr lang="en-US" sz="1350" dirty="0"/>
          </a:p>
          <a:p>
            <a:pPr algn="l" marL="83820" indent="-8382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handoff points between tabs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4056757"/>
            <a:ext cx="4838700" cy="507504"/>
          </a:xfrm>
          <a:prstGeom prst="roundRect">
            <a:avLst>
              <a:gd name="adj" fmla="val 15015"/>
            </a:avLst>
          </a:prstGeom>
          <a:solidFill>
            <a:srgbClr val="E8F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4056757"/>
            <a:ext cx="0" cy="507504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" y="4209157"/>
            <a:ext cx="458571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complex projects with multiple moving parts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743700" y="2609850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0986" y="2968823"/>
            <a:ext cx="978078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886575" y="1752600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55644" y="1995339"/>
            <a:ext cx="335185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886700" y="2752725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55769" y="2995464"/>
            <a:ext cx="335185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886575" y="3752850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55644" y="3995589"/>
            <a:ext cx="335185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886450" y="2752725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55519" y="2995464"/>
            <a:ext cx="335185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4</a:t>
            </a:r>
            <a:endParaRPr lang="en-US" sz="10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53240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Work Between Contexts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701725"/>
            <a:ext cx="571271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spcAft>
                <a:spcPts val="1200"/>
              </a:spcAft>
              <a:buNone/>
            </a:pPr>
            <a:r>
              <a:rPr lang="en-US" sz="156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Handoff Techniques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304800" y="1091803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8613" y="1091803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496" y="1228874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Use artifacts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496" y="1472505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documents, data files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304800" y="1897410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613" y="1897410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496" y="2034480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Provide clear summaries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496" y="2278112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done, what's next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04800" y="2703016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8613" y="2703016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496" y="2840087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Include relevant context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496" y="3083719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enough to proceed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04800" y="3508623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8613" y="3508623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496" y="3645694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Define acceptance criteria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496" y="3889325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success metrics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04800" y="4314230"/>
            <a:ext cx="5600700" cy="699046"/>
          </a:xfrm>
          <a:prstGeom prst="roundRect">
            <a:avLst>
              <a:gd name="adj" fmla="val 109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8613" y="4314230"/>
            <a:ext cx="0" cy="699046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496" y="4451300"/>
            <a:ext cx="53845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Document decisions made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496" y="4694932"/>
            <a:ext cx="5384512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redundant exploration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362700" y="1914971"/>
            <a:ext cx="2476500" cy="1885057"/>
          </a:xfrm>
          <a:prstGeom prst="roundRect">
            <a:avLst>
              <a:gd name="adj" fmla="val 4042"/>
            </a:avLst>
          </a:prstGeom>
          <a:solidFill>
            <a:srgbClr val="E8F3F8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89365" y="2141637"/>
            <a:ext cx="20636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6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Handoff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9365" y="2476798"/>
            <a:ext cx="2063633" cy="1096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 Tab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Implementation Tab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requirements.md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design complete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endpoints
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Success: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tests pass</a:t>
            </a:r>
            <a:endParaRPr lang="en-US" sz="9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5265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Investigation Workflow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62000" y="1528018"/>
            <a:ext cx="3505200" cy="929432"/>
          </a:xfrm>
          <a:prstGeom prst="roundRect">
            <a:avLst>
              <a:gd name="adj" fmla="val 8199"/>
            </a:avLst>
          </a:prstGeom>
          <a:solidFill>
            <a:srgbClr val="5FA8D3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0120" y="1756618"/>
            <a:ext cx="3108960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spcAft>
                <a:spcPts val="36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1: Analysis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960120" y="2036862"/>
            <a:ext cx="310896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analysis and pattern detection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416552" y="1779389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76800" y="1528018"/>
            <a:ext cx="3505200" cy="929432"/>
          </a:xfrm>
          <a:prstGeom prst="roundRect">
            <a:avLst>
              <a:gd name="adj" fmla="val 8199"/>
            </a:avLst>
          </a:prstGeom>
          <a:solidFill>
            <a:srgbClr val="5FA8D3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4920" y="1756618"/>
            <a:ext cx="3108960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spcAft>
                <a:spcPts val="36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2: Research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5074920" y="2036862"/>
            <a:ext cx="310896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runbook reference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62000" y="2686050"/>
            <a:ext cx="3505200" cy="929432"/>
          </a:xfrm>
          <a:prstGeom prst="roundRect">
            <a:avLst>
              <a:gd name="adj" fmla="val 8199"/>
            </a:avLst>
          </a:prstGeom>
          <a:solidFill>
            <a:srgbClr val="FF6F59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0120" y="2914650"/>
            <a:ext cx="3108960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spcAft>
                <a:spcPts val="36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3: Fix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60120" y="3194893"/>
            <a:ext cx="310896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implementation and testing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416552" y="2937421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76800" y="2686050"/>
            <a:ext cx="3505200" cy="929432"/>
          </a:xfrm>
          <a:prstGeom prst="roundRect">
            <a:avLst>
              <a:gd name="adj" fmla="val 8199"/>
            </a:avLst>
          </a:prstGeom>
          <a:solidFill>
            <a:srgbClr val="1B4965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4920" y="2914650"/>
            <a:ext cx="3108960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spcAft>
                <a:spcPts val="360"/>
              </a:spcAft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4: Documentation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074920" y="3194893"/>
            <a:ext cx="310896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Post-mortem writing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62000" y="3920282"/>
            <a:ext cx="7620000" cy="723900"/>
          </a:xfrm>
          <a:prstGeom prst="roundRect">
            <a:avLst>
              <a:gd name="adj" fmla="val 10526"/>
            </a:avLst>
          </a:prstGeom>
          <a:solidFill>
            <a:srgbClr val="E8F3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90575" y="3920282"/>
            <a:ext cx="0" cy="723900"/>
          </a:xfrm>
          <a:prstGeom prst="line">
            <a:avLst/>
          </a:prstGeom>
          <a:noFill/>
          <a:ln w="57150">
            <a:solidFill>
              <a:srgbClr val="1B49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694" y="4148882"/>
            <a:ext cx="72477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tab maintains focus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its specific phase while passing artifacts forward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51880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Down Complex Tasks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710630"/>
            <a:ext cx="474116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800" y="2213521"/>
            <a:ext cx="4648200" cy="2247900"/>
          </a:xfrm>
          <a:prstGeom prst="rect">
            <a:avLst/>
          </a:prstGeom>
          <a:noFill/>
          <a:ln/>
        </p:spPr>
        <p:txBody>
          <a:bodyPr wrap="square" lIns="87630" tIns="0" rIns="0" bIns="0" rtlCol="0" anchor="t"/>
          <a:lstStyle/>
          <a:p>
            <a:pPr algn="l" marL="87630" indent="-8763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independent subtasks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be done separately?</a:t>
            </a:r>
            <a:endParaRPr lang="en-US" sz="1350" dirty="0"/>
          </a:p>
          <a:p>
            <a:pPr algn="l" marL="87630" indent="-8763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dependencies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happen first?</a:t>
            </a:r>
            <a:endParaRPr lang="en-US" sz="1350" dirty="0"/>
          </a:p>
          <a:p>
            <a:pPr algn="l" marL="87630" indent="-8763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 specialized contexts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task to agent expertise</a:t>
            </a:r>
            <a:endParaRPr lang="en-US" sz="1350" dirty="0"/>
          </a:p>
          <a:p>
            <a:pPr algn="l" marL="87630" indent="-8763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vs sequential decision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02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tasks run simultaneously?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10200" y="1025128"/>
            <a:ext cx="3429000" cy="4122093"/>
          </a:xfrm>
          <a:prstGeom prst="roundRect">
            <a:avLst>
              <a:gd name="adj" fmla="val 2222"/>
            </a:avLst>
          </a:prstGeom>
          <a:solidFill>
            <a:srgbClr val="E8F3F8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38229" y="1282303"/>
            <a:ext cx="2972943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6"/>
              </a:lnSpc>
              <a:spcAft>
                <a:spcPts val="1200"/>
              </a:spcAft>
              <a:buNone/>
            </a:pPr>
            <a:r>
              <a:rPr lang="en-US" sz="14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New Service Setup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5667375" y="1690688"/>
            <a:ext cx="2914650" cy="708422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86425" y="1690688"/>
            <a:ext cx="0" cy="7084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7875" y="1843088"/>
            <a:ext cx="262318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1: Infrastructure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857875" y="2076152"/>
            <a:ext cx="2623185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resources, networking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667375" y="2521000"/>
            <a:ext cx="2914650" cy="708422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686425" y="2521000"/>
            <a:ext cx="0" cy="7084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7875" y="2673400"/>
            <a:ext cx="262318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2: Application Code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5857875" y="2906464"/>
            <a:ext cx="2623185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logic, API endpoints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667375" y="3351312"/>
            <a:ext cx="2914650" cy="708422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686425" y="3351312"/>
            <a:ext cx="0" cy="7084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7875" y="3503712"/>
            <a:ext cx="262318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3: Monitoring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857875" y="3736777"/>
            <a:ext cx="2623185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alerts, logs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5667375" y="4181624"/>
            <a:ext cx="2914650" cy="708422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686425" y="4181624"/>
            <a:ext cx="0" cy="708422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7875" y="4334024"/>
            <a:ext cx="2623185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4: Documentation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5857875" y="4567089"/>
            <a:ext cx="2623185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Runbooks, API docs</a:t>
            </a:r>
            <a:endParaRPr lang="en-US" sz="9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8091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Best Practices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172021"/>
            <a:ext cx="2641550" cy="1761679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1556" y="1400621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3400" y="1903512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task decomposition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51311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before you begin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251150" y="1305371"/>
            <a:ext cx="2641550" cy="1494979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7907" y="1533971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9750" y="2036862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handoffs explicit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9750" y="237976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transitions between tabs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197501" y="1172021"/>
            <a:ext cx="2641550" cy="1761679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04257" y="1400621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26101" y="1903512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context boundaries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6101" y="251311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tab is responsible for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04800" y="3086100"/>
            <a:ext cx="2641550" cy="1761679"/>
          </a:xfrm>
          <a:prstGeom prst="roundRect">
            <a:avLst>
              <a:gd name="adj" fmla="val 4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1556" y="3314700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3400" y="3817590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clear naming for tabs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427190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session names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251150" y="3123456"/>
            <a:ext cx="2641550" cy="1686967"/>
          </a:xfrm>
          <a:prstGeom prst="roundRect">
            <a:avLst>
              <a:gd name="adj" fmla="val 4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57907" y="3352056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479750" y="3854946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over-split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9750" y="4197846"/>
            <a:ext cx="2228037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specialization with overhead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197501" y="3219450"/>
            <a:ext cx="2641550" cy="1494979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04257" y="3448050"/>
            <a:ext cx="2228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26101" y="3950940"/>
            <a:ext cx="222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26101" y="4293840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shared data across tabs</a:t>
            </a:r>
            <a:endParaRPr lang="en-US" sz="10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228600"/>
            <a:ext cx="4692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Principles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8804" y="1344216"/>
            <a:ext cx="6846243" cy="642789"/>
          </a:xfrm>
          <a:prstGeom prst="roundRect">
            <a:avLst>
              <a:gd name="adj" fmla="val 11855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91238" y="1526977"/>
            <a:ext cx="6361375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4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job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148804" y="2185095"/>
            <a:ext cx="3354586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172617" y="2185095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4292" y="2352675"/>
            <a:ext cx="303123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isolation is powerful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1334292" y="2585740"/>
            <a:ext cx="303123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pollution, enables focus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640461" y="2185095"/>
            <a:ext cx="3354586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4273" y="2185095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5948" y="2352675"/>
            <a:ext cx="303123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handoffs are critical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825948" y="2585740"/>
            <a:ext cx="303123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artifacts and summaries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1148804" y="3060948"/>
            <a:ext cx="3354586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172617" y="3060948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4292" y="3228529"/>
            <a:ext cx="303123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decomposition enables parallelization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1334292" y="3461593"/>
            <a:ext cx="303123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complex workflows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640461" y="3060948"/>
            <a:ext cx="3354586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4273" y="3060948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5948" y="3228529"/>
            <a:ext cx="303123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pattern for complexity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4825948" y="3461593"/>
            <a:ext cx="303123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Hub-and-spoke orchestration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1148804" y="3936802"/>
            <a:ext cx="6846243" cy="738783"/>
          </a:xfrm>
          <a:prstGeom prst="roundRect">
            <a:avLst>
              <a:gd name="adj" fmla="val 10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172617" y="3936802"/>
            <a:ext cx="0" cy="738783"/>
          </a:xfrm>
          <a:prstGeom prst="line">
            <a:avLst/>
          </a:prstGeom>
          <a:noFill/>
          <a:ln w="47625">
            <a:solidFill>
              <a:srgbClr val="5FA8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9375" y="4104382"/>
            <a:ext cx="659272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specialization with overhead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1299375" y="4337447"/>
            <a:ext cx="6592726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spcBef>
                <a:spcPts val="240"/>
              </a:spcBef>
              <a:buNone/>
            </a:pPr>
            <a:r>
              <a:rPr lang="en-US" sz="960" dirty="0">
                <a:solidFill>
                  <a:srgbClr val="4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right level of decomposition</a:t>
            </a:r>
            <a:endParaRPr lang="en-US" sz="9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Module 4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Local Data Stores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19200"/>
            <a:ext cx="85344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b496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524000"/>
            <a:ext cx="79248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local knowledge bases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patterns for services, APIs, and dependencies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reference formats (JSON, YAML, Markdown)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build vs when to query live systems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strategies for reference data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9342" y="357188"/>
            <a:ext cx="596531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Ground Truth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71575" y="2338388"/>
            <a:ext cx="6800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 stores provide reliable, fast access to critical reference information</a:t>
            </a:r>
            <a:endParaRPr lang="en-US" sz="1800" dirty="0"/>
          </a:p>
        </p:txBody>
      </p:sp>
      <p:pic>
        <p:nvPicPr>
          <p:cNvPr id="4" name="Image 0" descr="/tmp/rasterized-svg-d6f0da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359568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Inventory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922562"/>
            <a:ext cx="1524000" cy="2212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2732" y="2189262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22732" y="2905423"/>
            <a:ext cx="10881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2732" y="3484513"/>
            <a:ext cx="108813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&amp; specs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057400" y="2151906"/>
            <a:ext cx="1524000" cy="17539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75332" y="2418606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75332" y="3134767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75332" y="3447157"/>
            <a:ext cx="108813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maps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810000" y="2055912"/>
            <a:ext cx="1524000" cy="1945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27932" y="2322612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027932" y="3038773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7932" y="3351163"/>
            <a:ext cx="108813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Cross-service params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562600" y="1922562"/>
            <a:ext cx="1524000" cy="2212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80532" y="2189262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780532" y="2905423"/>
            <a:ext cx="10881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Codes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80532" y="3484513"/>
            <a:ext cx="108813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solutions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315200" y="2055912"/>
            <a:ext cx="1524000" cy="1945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33132" y="2322612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533132" y="3038773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33132" y="3351163"/>
            <a:ext cx="108813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conventions</a:t>
            </a:r>
            <a:endParaRPr lang="en-US" sz="10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5079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Format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935510"/>
            <a:ext cx="2692450" cy="21868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954560"/>
            <a:ext cx="2692450" cy="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1048" y="2202210"/>
            <a:ext cx="22799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2628900"/>
            <a:ext cx="22799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3017490"/>
            <a:ext cx="2235250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inventories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data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parsing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25850" y="1935510"/>
            <a:ext cx="2692450" cy="21868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25850" y="1954560"/>
            <a:ext cx="269245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2097" y="2202210"/>
            <a:ext cx="22799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4450" y="2628900"/>
            <a:ext cx="22799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4450" y="3017490"/>
            <a:ext cx="2235250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data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Human-friendly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comments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46899" y="1935510"/>
            <a:ext cx="2692450" cy="21868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46899" y="1954560"/>
            <a:ext cx="269245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3147" y="2202210"/>
            <a:ext cx="22799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75499" y="2628900"/>
            <a:ext cx="22799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75499" y="3017490"/>
            <a:ext cx="2235250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tables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edit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docs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55086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API Endpoint Inventory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9700" y="2014686"/>
            <a:ext cx="3619500" cy="2028379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38750" y="2014686"/>
            <a:ext cx="0" cy="2028379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2243286"/>
            <a:ext cx="318668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spcAft>
                <a:spcPts val="1200"/>
              </a:spcAft>
              <a:buNone/>
            </a:pPr>
            <a:r>
              <a:rPr lang="en-US" sz="15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5486400" y="2633365"/>
            <a:ext cx="3124200" cy="11811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&amp; Method: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Quick reference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Constraints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Errors: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Troubleshooting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58778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Service Dependency 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9700" y="2014686"/>
            <a:ext cx="3619500" cy="2028379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38750" y="2014686"/>
            <a:ext cx="0" cy="2028379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2243286"/>
            <a:ext cx="318668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spcAft>
                <a:spcPts val="1200"/>
              </a:spcAft>
              <a:buNone/>
            </a:pPr>
            <a:r>
              <a:rPr lang="en-US" sz="15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Helps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5486400" y="2633365"/>
            <a:ext cx="3124200" cy="11811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dependency chains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ownership visible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support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navigate relationships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Store Locally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169045"/>
            <a:ext cx="4152900" cy="3719959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188095"/>
            <a:ext cx="4152900" cy="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4167" y="1511945"/>
            <a:ext cx="3614166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spcAft>
                <a:spcPts val="1200"/>
              </a:spcAft>
              <a:buNone/>
            </a:pPr>
            <a:r>
              <a:rPr lang="en-US" sz="21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609600" y="19934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336304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source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controlled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curated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33650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3707904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specifications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conventions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86300" y="1169045"/>
            <a:ext cx="4152900" cy="3719959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86300" y="1188095"/>
            <a:ext cx="415290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5667" y="1511945"/>
            <a:ext cx="3614166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spcAft>
                <a:spcPts val="1200"/>
              </a:spcAft>
              <a:buNone/>
            </a:pPr>
            <a:r>
              <a:rPr lang="en-US" sz="216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Data</a:t>
            </a:r>
            <a:endParaRPr lang="en-US" sz="2160" dirty="0"/>
          </a:p>
        </p:txBody>
      </p:sp>
      <p:sp>
        <p:nvSpPr>
          <p:cNvPr id="14" name="Text 12"/>
          <p:cNvSpPr/>
          <p:nvPr/>
        </p:nvSpPr>
        <p:spPr>
          <a:xfrm>
            <a:off x="4991100" y="19934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91100" y="2336304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systems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Refreshable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stale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91100" y="33650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91100" y="3707904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snapshots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health status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deployment logs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Data Fresh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19200"/>
            <a:ext cx="85344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480691"/>
            <a:ext cx="248915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0156" y="1671191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0156" y="2280791"/>
            <a:ext cx="2228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156" y="253216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all changes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327350" y="1480691"/>
            <a:ext cx="248915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7907" y="1671191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57907" y="2280791"/>
            <a:ext cx="2228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Reviews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7907" y="253216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updates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045101" y="1480691"/>
            <a:ext cx="248915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5657" y="1671191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5657" y="2280791"/>
            <a:ext cx="2228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5657" y="253216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checks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09600" y="3143250"/>
            <a:ext cx="384810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6567" y="3333750"/>
            <a:ext cx="361416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6567" y="3943350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567" y="4194721"/>
            <a:ext cx="361416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owner per inventory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686300" y="3143250"/>
            <a:ext cx="384810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3267" y="3333750"/>
            <a:ext cx="361416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803267" y="3943350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3267" y="4194721"/>
            <a:ext cx="361416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all changes</a:t>
            </a:r>
            <a:endParaRPr lang="en-US" sz="10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Things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68016"/>
            <a:ext cx="4152900" cy="3521720"/>
          </a:xfrm>
          <a:prstGeom prst="roundRect">
            <a:avLst>
              <a:gd name="adj" fmla="val 2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287066"/>
            <a:ext cx="41529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4167" y="1610916"/>
            <a:ext cx="3614166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spcAft>
                <a:spcPts val="1200"/>
              </a:spcAft>
              <a:buNone/>
            </a:pPr>
            <a:r>
              <a:rPr lang="en-US" sz="216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Documents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609600" y="209237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480965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lookup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Scannable format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350966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3852565"/>
            <a:ext cx="361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facts, specifications, and quick answers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4167" y="4233565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complement each other!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6300" y="1450925"/>
            <a:ext cx="4152900" cy="3156049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86300" y="1469975"/>
            <a:ext cx="4152900" cy="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5667" y="1793825"/>
            <a:ext cx="3614166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spcAft>
                <a:spcPts val="1200"/>
              </a:spcAft>
              <a:buNone/>
            </a:pPr>
            <a:r>
              <a:rPr lang="en-US" sz="21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2160" dirty="0"/>
          </a:p>
        </p:txBody>
      </p:sp>
      <p:sp>
        <p:nvSpPr>
          <p:cNvPr id="15" name="Text 13"/>
          <p:cNvSpPr/>
          <p:nvPr/>
        </p:nvSpPr>
        <p:spPr>
          <a:xfrm>
            <a:off x="4991100" y="227528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2663875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flow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concepts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91100" y="369257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91100" y="4035475"/>
            <a:ext cx="361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understanding, learning, and context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51880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What to Avoid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691580"/>
            <a:ext cx="4152900" cy="267459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691580"/>
            <a:ext cx="0" cy="267459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920180"/>
            <a:ext cx="3730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 This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346871"/>
            <a:ext cx="3657600" cy="17907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expand based on usage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data easily searchable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examples in reference data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data schema itself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close to the code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updates where possible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6300" y="1710630"/>
            <a:ext cx="4152900" cy="2636490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05350" y="1710630"/>
            <a:ext cx="0" cy="263649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0" y="1939230"/>
            <a:ext cx="3730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Avoid This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53000" y="2365921"/>
            <a:ext cx="3657600" cy="17526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comprehensive inventories no one maintains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Duplicating data better queried live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data ownership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versioning strategy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Overly complex schemas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Module 5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Integration Patterns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3716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2286000"/>
            <a:ext cx="80010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 queries vs cached data trade-offs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queries in context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analysis patterns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and monitoring data integration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freshness, speed, and cost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077" y="571500"/>
            <a:ext cx="878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800"/>
              </a:spcAft>
              <a:buNone/>
            </a:pPr>
            <a:r>
              <a:rPr lang="en-US" sz="5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vs Static Context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171575" y="1752600"/>
            <a:ext cx="6800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integration pattern depends on data characteristics and use case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81300" y="3162300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66542" y="331857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71775" y="426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50" dirty="0"/>
          </a:p>
        </p:txBody>
      </p:sp>
      <p:pic>
        <p:nvPicPr>
          <p:cNvPr id="7" name="Image 0" descr="/tmp/rasterized-gradient-e2b7e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0" y="3848100"/>
            <a:ext cx="762000" cy="38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10200" y="3162300"/>
            <a:ext cx="952500" cy="952500"/>
          </a:xfrm>
          <a:prstGeom prst="roundRect">
            <a:avLst>
              <a:gd name="adj" fmla="val 96000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95442" y="331857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00675" y="42672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00100"/>
            <a:ext cx="63830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Query Live vs Use Local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866900"/>
            <a:ext cx="3886200" cy="1123950"/>
          </a:xfrm>
          <a:prstGeom prst="roundRect">
            <a:avLst>
              <a:gd name="adj" fmla="val 6780"/>
            </a:avLst>
          </a:prstGeom>
          <a:solidFill>
            <a:srgbClr val="D4F1F4"/>
          </a:solidFill>
          <a:ln w="28575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8675" y="216217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Freshness + Low Cost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8675" y="2505075"/>
            <a:ext cx="34392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Live Query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86300" y="1866900"/>
            <a:ext cx="3886200" cy="1123950"/>
          </a:xfrm>
          <a:prstGeom prst="roundRect">
            <a:avLst>
              <a:gd name="adj" fmla="val 6780"/>
            </a:avLst>
          </a:prstGeom>
          <a:solidFill>
            <a:srgbClr val="FFE5D9"/>
          </a:solidFill>
          <a:ln w="28575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43475" y="216217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Freshness + High Cost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43475" y="2505075"/>
            <a:ext cx="34392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Hybrid/Cached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3219450"/>
            <a:ext cx="3886200" cy="1123950"/>
          </a:xfrm>
          <a:prstGeom prst="roundRect">
            <a:avLst>
              <a:gd name="adj" fmla="val 6780"/>
            </a:avLst>
          </a:prstGeom>
          <a:solidFill>
            <a:srgbClr val="E8F1F5"/>
          </a:solidFill>
          <a:ln w="28575">
            <a:solidFill>
              <a:srgbClr val="5A7A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8675" y="351472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Freshness + Low Cost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8675" y="3857625"/>
            <a:ext cx="34392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Either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6300" y="3219450"/>
            <a:ext cx="3886200" cy="1123950"/>
          </a:xfrm>
          <a:prstGeom prst="roundRect">
            <a:avLst>
              <a:gd name="adj" fmla="val 6780"/>
            </a:avLst>
          </a:prstGeom>
          <a:solidFill>
            <a:srgbClr val="FFF0ED"/>
          </a:solidFill>
          <a:ln w="28575">
            <a:solidFill>
              <a:srgbClr val="D883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43475" y="3514725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Freshness + High Cost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43475" y="3857625"/>
            <a:ext cx="34392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Local/Snapshot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47750"/>
            <a:ext cx="4886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Trade-offs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962150"/>
            <a:ext cx="25146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247900"/>
            <a:ext cx="2059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Live Queries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9150" y="2667000"/>
            <a:ext cx="2019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fresh data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latency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apply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query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14700" y="1962150"/>
            <a:ext cx="25146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F6F5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62350" y="2247900"/>
            <a:ext cx="2059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Local Snapshots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2350" y="2667000"/>
            <a:ext cx="2019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access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stale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rate limits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needed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57900" y="1962150"/>
            <a:ext cx="25146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B49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05550" y="2247900"/>
            <a:ext cx="2059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Hybrid 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5550" y="2667000"/>
            <a:ext cx="20193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 worlds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complexity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strategy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fallbacks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47750"/>
            <a:ext cx="48286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Query Live Systems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962150"/>
            <a:ext cx="360045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cluster state inspection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database schema validation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log entries (less than 1 hour)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metrics and alerts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incident investigation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476750" y="1962150"/>
            <a:ext cx="4095750" cy="2133600"/>
          </a:xfrm>
          <a:prstGeom prst="roundRect">
            <a:avLst>
              <a:gd name="adj" fmla="val 3571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95800" y="1962150"/>
            <a:ext cx="0" cy="213360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3450" y="2228850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QUERY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1915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Local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733550"/>
            <a:ext cx="360045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response examples and schemas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log patterns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documentation and runbooks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templates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 catalogs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476750" y="1733550"/>
            <a:ext cx="4095750" cy="2590800"/>
          </a:xfrm>
          <a:prstGeom prst="roundRect">
            <a:avLst>
              <a:gd name="adj" fmla="val 2941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95800" y="1733550"/>
            <a:ext cx="0" cy="25908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43450" y="2000250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STRUCTURE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81025"/>
            <a:ext cx="4595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Within Constraints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533525"/>
            <a:ext cx="33227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Rate-Limited APIs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1952625"/>
            <a:ext cx="325755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frequently accessed data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requests when possible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webhooks instead of polling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exponential backoff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quota usage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33850" y="1495425"/>
            <a:ext cx="4438650" cy="3067050"/>
          </a:xfrm>
          <a:prstGeom prst="roundRect">
            <a:avLst>
              <a:gd name="adj" fmla="val 2484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62450" y="1762125"/>
            <a:ext cx="40610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PATTERN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09650"/>
            <a:ext cx="43428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Data Freshness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209550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Stale Data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2514600"/>
            <a:ext cx="38481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all cached data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refresh policies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on first use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local with live validation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on staleness thresholds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24400" y="1924050"/>
            <a:ext cx="384810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72050" y="2209800"/>
            <a:ext cx="34198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AGING TIMELINE</a:t>
            </a:r>
            <a:endParaRPr lang="en-US" sz="1050" dirty="0"/>
          </a:p>
        </p:txBody>
      </p:sp>
      <p:pic>
        <p:nvPicPr>
          <p:cNvPr id="7" name="Image 0" descr="/tmp/rasterized-gradient-c7df64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0" y="2552700"/>
            <a:ext cx="28575" cy="1333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4450" y="2552700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(0-5 min)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124450" y="2743200"/>
            <a:ext cx="3264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immediately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4450" y="3048000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FA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(5-60 min)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4450" y="3238500"/>
            <a:ext cx="3264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with caution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24450" y="3543300"/>
            <a:ext cx="3264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(60+ min)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124450" y="3733800"/>
            <a:ext cx="3264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required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1430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Data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209550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for Working with Large Datasets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2514600"/>
            <a:ext cx="38481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before including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representative data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pagination and filters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raw data locally, summarize for context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full data instead of embedding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24400" y="2057400"/>
            <a:ext cx="3848100" cy="761851"/>
          </a:xfrm>
          <a:prstGeom prst="roundRect">
            <a:avLst>
              <a:gd name="adj" fmla="val 10002"/>
            </a:avLst>
          </a:prstGeom>
          <a:solidFill>
            <a:srgbClr val="FFE5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43450" y="2057400"/>
            <a:ext cx="0" cy="76185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2247900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0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14900" y="2484090"/>
            <a:ext cx="35753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10,000 log lines directly into context window (5MB+)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24400" y="2971651"/>
            <a:ext cx="3848100" cy="944612"/>
          </a:xfrm>
          <a:prstGeom prst="roundRect">
            <a:avLst>
              <a:gd name="adj" fmla="val 8067"/>
            </a:avLst>
          </a:prstGeom>
          <a:solidFill>
            <a:srgbClr val="D4F1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43450" y="2971651"/>
            <a:ext cx="0" cy="944612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4900" y="3162151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0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4900" y="3398341"/>
            <a:ext cx="357530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127 errors (95% timeouts), 3 unique patterns. Full logs: /data/logs/2024-01.txt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143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066800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Integration Approaches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1485900"/>
            <a:ext cx="3886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1771650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Tools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2076450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kubectl, aws-cli, curl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2667000"/>
            <a:ext cx="3886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9150" y="2952750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Formatting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150" y="3257550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jq, yq, grep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3848100"/>
            <a:ext cx="3886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9150" y="4133850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Scripts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9150" y="4438650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gathering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86300" y="1028700"/>
            <a:ext cx="3886200" cy="4000500"/>
          </a:xfrm>
          <a:prstGeom prst="roundRect">
            <a:avLst>
              <a:gd name="adj" fmla="val 1961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4900" y="12954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COMMANDS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470720"/>
            <a:ext cx="52560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Log Analysis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2499420"/>
            <a:ext cx="1333500" cy="1058912"/>
          </a:xfrm>
          <a:prstGeom prst="roundRect">
            <a:avLst>
              <a:gd name="adj" fmla="val 7196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4581" y="2682180"/>
            <a:ext cx="987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Query Recent Logs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4581" y="31850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05000" y="3014514"/>
            <a:ext cx="381000" cy="28575"/>
          </a:xfrm>
          <a:prstGeom prst="rect">
            <a:avLst/>
          </a:prstGeom>
          <a:solidFill>
            <a:srgbClr val="C4D7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86000" y="2499420"/>
            <a:ext cx="1333500" cy="1058912"/>
          </a:xfrm>
          <a:prstGeom prst="roundRect">
            <a:avLst>
              <a:gd name="adj" fmla="val 7196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59081" y="2682180"/>
            <a:ext cx="987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Identify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59081" y="31850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Analyze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9500" y="3014514"/>
            <a:ext cx="381000" cy="28575"/>
          </a:xfrm>
          <a:prstGeom prst="rect">
            <a:avLst/>
          </a:prstGeom>
          <a:solidFill>
            <a:srgbClr val="C4D7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0" y="2385120"/>
            <a:ext cx="1333500" cy="1287512"/>
          </a:xfrm>
          <a:prstGeom prst="roundRect">
            <a:avLst>
              <a:gd name="adj" fmla="val 5918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73581" y="2567880"/>
            <a:ext cx="987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Compare Known Patterns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73581" y="32993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Local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34000" y="3014514"/>
            <a:ext cx="381000" cy="28575"/>
          </a:xfrm>
          <a:prstGeom prst="rect">
            <a:avLst/>
          </a:prstGeom>
          <a:solidFill>
            <a:srgbClr val="C4D7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0" y="2385120"/>
            <a:ext cx="1333500" cy="1287512"/>
          </a:xfrm>
          <a:prstGeom prst="roundRect">
            <a:avLst>
              <a:gd name="adj" fmla="val 5918"/>
            </a:avLst>
          </a:prstGeom>
          <a:solidFill>
            <a:srgbClr val="8FAA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88081" y="2567880"/>
            <a:ext cx="987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Snapshot Relevant Logs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88081" y="32993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Save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8500" y="3014514"/>
            <a:ext cx="381000" cy="28575"/>
          </a:xfrm>
          <a:prstGeom prst="rect">
            <a:avLst/>
          </a:prstGeom>
          <a:solidFill>
            <a:srgbClr val="C4D7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29500" y="2499420"/>
            <a:ext cx="1333500" cy="1058912"/>
          </a:xfrm>
          <a:prstGeom prst="roundRect">
            <a:avLst>
              <a:gd name="adj" fmla="val 7196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02581" y="2682180"/>
            <a:ext cx="987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Analyze with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2581" y="3185071"/>
            <a:ext cx="98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Deep Dive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80268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 Worlds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432768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Pattern Strategy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" y="1851868"/>
            <a:ext cx="36004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local baseline data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live for deltas and changes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local cache periodically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 as fallback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476750" y="1394668"/>
            <a:ext cx="4095750" cy="3268563"/>
          </a:xfrm>
          <a:prstGeom prst="roundRect">
            <a:avLst>
              <a:gd name="adj" fmla="val 2331"/>
            </a:avLst>
          </a:prstGeom>
          <a:solidFill>
            <a:srgbClr val="FFFFFF"/>
          </a:solidFill>
          <a:ln w="19050">
            <a:solidFill>
              <a:srgbClr val="C4D7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24400" y="1680418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SERVICE DISCOVERY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24400" y="2023318"/>
            <a:ext cx="3600450" cy="716161"/>
          </a:xfrm>
          <a:prstGeom prst="roundRect">
            <a:avLst>
              <a:gd name="adj" fmla="val 7980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38688" y="2023318"/>
            <a:ext cx="0" cy="716161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5375" y="2175718"/>
            <a:ext cx="33324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Baseline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05375" y="2396579"/>
            <a:ext cx="3332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4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services, endpoints, schemas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24400" y="2861370"/>
            <a:ext cx="3600450" cy="716161"/>
          </a:xfrm>
          <a:prstGeom prst="roundRect">
            <a:avLst>
              <a:gd name="adj" fmla="val 7980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38688" y="2861370"/>
            <a:ext cx="0" cy="716161"/>
          </a:xfrm>
          <a:prstGeom prst="line">
            <a:avLst/>
          </a:prstGeom>
          <a:noFill/>
          <a:ln w="28575">
            <a:solidFill>
              <a:srgbClr val="FF6F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5375" y="3013770"/>
            <a:ext cx="33324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Query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05375" y="3234630"/>
            <a:ext cx="3332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4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health, recent deployments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24400" y="3699421"/>
            <a:ext cx="3600450" cy="716161"/>
          </a:xfrm>
          <a:prstGeom prst="roundRect">
            <a:avLst>
              <a:gd name="adj" fmla="val 7980"/>
            </a:avLst>
          </a:prstGeom>
          <a:solidFill>
            <a:srgbClr val="E8F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38688" y="3699421"/>
            <a:ext cx="0" cy="716161"/>
          </a:xfrm>
          <a:prstGeom prst="line">
            <a:avLst/>
          </a:prstGeom>
          <a:noFill/>
          <a:ln w="28575">
            <a:solidFill>
              <a:srgbClr val="8FA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5375" y="3851821"/>
            <a:ext cx="33324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5375" y="4072682"/>
            <a:ext cx="3332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4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 if API unavailable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80120"/>
            <a:ext cx="43233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394520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1394520"/>
            <a:ext cx="0" cy="93717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7690" y="1592610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Start local, add live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7690" y="1905000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cached data, add queries as needed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86300" y="1394520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05350" y="1394520"/>
            <a:ext cx="0" cy="9371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2490" y="1592610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Monitor query costs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22490" y="1905000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API usage and rate limit consumption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2560290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0550" y="2560290"/>
            <a:ext cx="0" cy="93717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7690" y="2758380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Cache aggressively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7690" y="3070771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stable data, cache with long TTLs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86300" y="2560290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05350" y="2560290"/>
            <a:ext cx="0" cy="9371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2490" y="2758380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Document refresh strategies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22490" y="3070771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cache policies explicit and discoverable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1500" y="3726061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0550" y="3726061"/>
            <a:ext cx="0" cy="93717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690" y="3924151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Build resilience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7690" y="4236541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handle query failures gracefully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86300" y="3726061"/>
            <a:ext cx="3886200" cy="937171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5350" y="3726061"/>
            <a:ext cx="0" cy="9371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2490" y="3924151"/>
            <a:ext cx="3520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Right tool, right data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22490" y="4236541"/>
            <a:ext cx="3520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tools to data types and access patterns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885825"/>
            <a:ext cx="4692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Principles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800225"/>
            <a:ext cx="8001000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8575">
            <a:solidFill>
              <a:srgbClr val="1B49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4875" y="2133600"/>
            <a:ext cx="733425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integration pattern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data characteristics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freshness, speed, and cost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trade-offs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are real constraints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work within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approaches often win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complex scenarios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is precious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summarize large data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have a fallback strategy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resilience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Module 6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Practical Patterns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39930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52500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750" y="2162175"/>
            <a:ext cx="78105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SRE workflows with AI assistance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patterns that work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with AI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workflows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generation patterns</a:t>
            </a:r>
            <a:endParaRPr lang="en-US" sz="13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265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Investigation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9429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Four-Tab Orchestration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476375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050" y="163830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050" y="191452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pattern detection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381250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050" y="254317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Documentation Reference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050" y="281940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and known issues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286125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1050" y="344805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Fix Implementation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050" y="372427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changes and testing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4191000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50" y="435292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Post-Mortem Writing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050" y="462915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learning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64705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Investigation: Key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609725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symptom description in all tabs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log analysis to narrow scope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local runbooks for known patterns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fix implementation from exploration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decisions and rationale in real-time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629025"/>
            <a:ext cx="8001000" cy="876300"/>
          </a:xfrm>
          <a:prstGeom prst="roundRect">
            <a:avLst>
              <a:gd name="adj" fmla="val 8696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3629025"/>
            <a:ext cx="0" cy="8763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381952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Time-Saving Tip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412432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symptom context consistent across all tabs to maintain focus and enable cross-referencing.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7994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Service Setup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191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Four-Phase Approach</a:t>
            </a:r>
            <a:endParaRPr lang="en-US" sz="1350" dirty="0"/>
          </a:p>
        </p:txBody>
      </p:sp>
      <p:pic>
        <p:nvPicPr>
          <p:cNvPr id="5" name="Image 0" descr="/tmp/rasterized-gradient-2a6e8b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552575"/>
            <a:ext cx="8001000" cy="7524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" y="169545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Architecture Research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0100" y="197167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services, patterns, best practices</a:t>
            </a:r>
            <a:endParaRPr lang="en-US" sz="1050" dirty="0"/>
          </a:p>
        </p:txBody>
      </p:sp>
      <p:pic>
        <p:nvPicPr>
          <p:cNvPr id="8" name="Image 1" descr="/tmp/rasterized-gradient-043e4c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19350"/>
            <a:ext cx="8001000" cy="7524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100" y="256222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Boilerplate Generation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0100" y="283845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structure, configuration</a:t>
            </a:r>
            <a:endParaRPr lang="en-US" sz="1050" dirty="0"/>
          </a:p>
        </p:txBody>
      </p:sp>
      <p:pic>
        <p:nvPicPr>
          <p:cNvPr id="11" name="Image 2" descr="/tmp/rasterized-gradient-51082b2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86125"/>
            <a:ext cx="8001000" cy="7524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0100" y="342900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Configuration Setup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0100" y="370522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monitoring, CI/CD</a:t>
            </a:r>
            <a:endParaRPr lang="en-US" sz="1050" dirty="0"/>
          </a:p>
        </p:txBody>
      </p:sp>
      <p:pic>
        <p:nvPicPr>
          <p:cNvPr id="14" name="Image 3" descr="/tmp/rasterized-gradient-a7570bd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52900"/>
            <a:ext cx="8001000" cy="7524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100" y="429577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Documentation Creation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00100" y="457200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runbooks, team docs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60041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Service Setup: Key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38112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for Success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914525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 service inventory for consistency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from templates, then customize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team standards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monitoring from day one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parallel to development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933825"/>
            <a:ext cx="8001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412432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Practice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439102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infrastructure and monitoring as first-class deliverables, not afterthoughts.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3240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Change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9429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Safety Pattern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476375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050" y="163830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Impact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050" y="191452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Dependencies, affected services, risks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381250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050" y="254317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Change Implementation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050" y="281940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Terraform/code changes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286125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1050" y="344805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Testing and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050" y="372427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review, dry runs, canary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4191000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50" y="435292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Rollback Planning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050" y="462915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modes, recovery steps</a:t>
            </a:r>
            <a:endParaRPr lang="en-US" sz="10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67231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Changes: Key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001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Safety-First Checklist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933575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impact analysis from dependency maps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for plan review and risk identification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rollback scripts before deploying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expected vs actual outcomes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validation checks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952875"/>
            <a:ext cx="8001000" cy="800100"/>
          </a:xfrm>
          <a:prstGeom prst="roundRect">
            <a:avLst>
              <a:gd name="adj" fmla="val 9524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4124325"/>
            <a:ext cx="78112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Critical Reminder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2950" y="4391025"/>
            <a:ext cx="78112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have a tested rollback plan ready before executing any infrastructure change.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8681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Code Review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7049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Review Dimensions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238375"/>
            <a:ext cx="3886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050" y="2428875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Pattern Matching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050" y="27336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standards and best practices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2238375"/>
            <a:ext cx="3886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95850" y="2428875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Security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5850" y="27336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Vulnerabilities, auth patterns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343275"/>
            <a:ext cx="3886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1050" y="3533775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Performance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050" y="38385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Complexity, resource usage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6300" y="3343275"/>
            <a:ext cx="3886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95850" y="3533775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Documentation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5850" y="38385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clarity, comments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0520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Review: Key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533525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team standards as context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separate tabs for different review aspects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constructive feedback templates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with local pattern library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AI on mechanical checks, keep human judgment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552825"/>
            <a:ext cx="8001000" cy="1028700"/>
          </a:xfrm>
          <a:prstGeom prst="roundRect">
            <a:avLst>
              <a:gd name="adj" fmla="val 740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3552825"/>
            <a:ext cx="0" cy="102870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050" y="3724275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050" y="4029075"/>
            <a:ext cx="777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"Review this PR against our security checklist for authentication patterns, focusing on token handling and session management."</a:t>
            </a:r>
            <a:endParaRPr lang="en-US" sz="10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4892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Debugging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5240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6642" y="16287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6850" y="164782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and document symptoms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1145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642" y="221932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6850" y="223837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relevant logs and metrics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27051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6642" y="28098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6850" y="282892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hypotheses with AI assistance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" y="32956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6642" y="340042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6850" y="341947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hypotheses systematically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" y="38862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6642" y="39909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6850" y="401002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findings and fix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9750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Documentation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733550"/>
            <a:ext cx="3771900" cy="1885950"/>
          </a:xfrm>
          <a:prstGeom prst="roundRect">
            <a:avLst>
              <a:gd name="adj" fmla="val 4040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1733550"/>
            <a:ext cx="0" cy="188595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92405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Generate with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2247900"/>
            <a:ext cx="3352800" cy="1181100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docs from code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from incidents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Changelogs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references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0600" y="1733550"/>
            <a:ext cx="3771900" cy="1885950"/>
          </a:xfrm>
          <a:prstGeom prst="roundRect">
            <a:avLst>
              <a:gd name="adj" fmla="val 404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19650" y="1733550"/>
            <a:ext cx="0" cy="188595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92405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 Write Manually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47900"/>
            <a:ext cx="3352800" cy="1181100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rationale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philosophy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context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1490" y="4448175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approach: AI generates draft, human refines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790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for SRE Tasks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28700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Prompt Patterns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562100"/>
            <a:ext cx="8001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2950" y="169545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these logs for [specific pattern]..."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2209800"/>
            <a:ext cx="8001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2950" y="234315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this configuration against [standard]..."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500" y="2857500"/>
            <a:ext cx="8001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2950" y="299085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a runbook for [incident type] including..."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1500" y="3505200"/>
            <a:ext cx="8001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2950" y="363855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this change for [security/performance/style]..."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" y="4362450"/>
            <a:ext cx="8001000" cy="533400"/>
          </a:xfrm>
          <a:prstGeom prst="roundRect">
            <a:avLst>
              <a:gd name="adj" fmla="val 14286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2950" y="4533900"/>
            <a:ext cx="78112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Context + Task + Constraints + Format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21431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21431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050" y="22574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context bundles for common tasks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7146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0550" y="27146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050" y="28289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prompt templates library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32861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32861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050" y="34004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artifacts for reusable components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6300" y="21431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05350" y="21431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5850" y="22574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snippet libraries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6300" y="27146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05350" y="27146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5850" y="28289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data gathering scripts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6300" y="32861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5350" y="32861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5850" y="34004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decision trees for common scenarios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1977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Patterns Across Teams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81088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and Standardizing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614488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 context libraries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proven workflows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prompt templates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directory structures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pattern reviews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633788"/>
            <a:ext cx="8001000" cy="1438275"/>
          </a:xfrm>
          <a:prstGeom prst="roundRect">
            <a:avLst>
              <a:gd name="adj" fmla="val 5298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824288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/team-resources/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2500" y="4062412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prompts/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" y="4271963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workflows/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2500" y="4481513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2500" y="4691063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standards/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5887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Patterns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6750" y="1076325"/>
            <a:ext cx="952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750" y="1919288"/>
            <a:ext cx="7810500" cy="2171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workflows beat ad-hoc approaches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Multi-tab orchestration for complex tasks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patterns as you discover them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enables automation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 libraries of patterns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and improve continuously</a:t>
            </a:r>
            <a:endParaRPr lang="en-US" sz="13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Module 7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Common Pitfalls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266950"/>
            <a:ext cx="8001000" cy="14859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common anti-patterns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 of context problems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techniques when things go wrong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to prevent issues</a:t>
            </a:r>
            <a:endParaRPr lang="en-US" sz="1350" dirty="0"/>
          </a:p>
          <a:p>
            <a:pPr algn="l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success strategies</a:t>
            </a:r>
            <a:endParaRPr lang="en-US" sz="13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Pollution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14550"/>
            <a:ext cx="51297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724150"/>
            <a:ext cx="5029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 unrelated contexts in one session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sessions run too long without reset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isolating exploratory work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Accumulating irrelevant history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05500" y="1657350"/>
            <a:ext cx="2667000" cy="2705100"/>
          </a:xfrm>
          <a:prstGeom prst="roundRect">
            <a:avLst>
              <a:gd name="adj" fmla="val 285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rasterized-gradient-2469dd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943100"/>
            <a:ext cx="1524000" cy="152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94746" y="2419350"/>
            <a:ext cx="488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6605824" y="3771900"/>
            <a:ext cx="1266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3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and Recovering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Warning Signs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making incorrect assumptions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Re-explaining basics repeatedly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reference wrong context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degradation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Recovery Techniques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fresh with clear context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context summary document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multi-tab isolation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context cleanup cycles</a:t>
            </a:r>
            <a:endParaRPr lang="en-US" sz="13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Over-Compression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64940"/>
            <a:ext cx="51297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274540"/>
            <a:ext cx="5029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optimization of context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critical details too early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Sacrificing clarity for brevity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important nuances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836640"/>
            <a:ext cx="5029200" cy="518071"/>
          </a:xfrm>
          <a:prstGeom prst="roundRect">
            <a:avLst>
              <a:gd name="adj" fmla="val 7354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3836640"/>
            <a:ext cx="0" cy="5180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398904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lost in compression is difficult to recover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05500" y="1657350"/>
            <a:ext cx="2667000" cy="2705100"/>
          </a:xfrm>
          <a:prstGeom prst="roundRect">
            <a:avLst>
              <a:gd name="adj" fmla="val 285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tmp/rasterized-gradient-eb5c11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943100"/>
            <a:ext cx="1524000" cy="1524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4746" y="2419350"/>
            <a:ext cx="488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4500" dirty="0"/>
          </a:p>
        </p:txBody>
      </p:sp>
      <p:sp>
        <p:nvSpPr>
          <p:cNvPr id="12" name="Text 9"/>
          <p:cNvSpPr/>
          <p:nvPr/>
        </p:nvSpPr>
        <p:spPr>
          <a:xfrm>
            <a:off x="6605824" y="3771900"/>
            <a:ext cx="1266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3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Less Is Not More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Warning Signs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asking for same info repeatedly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missing critical requirements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solutions instead of specific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examples every time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Recovery Strategies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missing context deliberately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concrete examples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exceptions and edge cases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clarity trumps brevity</a:t>
            </a:r>
            <a:endParaRPr lang="en-US" sz="13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Under-Documentation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64940"/>
            <a:ext cx="51297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274540"/>
            <a:ext cx="5029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AI knows your conventions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examples in repositories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context for new tasks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README files or outdated ones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836640"/>
            <a:ext cx="5029200" cy="518071"/>
          </a:xfrm>
          <a:prstGeom prst="roundRect">
            <a:avLst>
              <a:gd name="adj" fmla="val 7354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3836640"/>
            <a:ext cx="0" cy="5180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398904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is context for both humans and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05500" y="1657350"/>
            <a:ext cx="2667000" cy="2705100"/>
          </a:xfrm>
          <a:prstGeom prst="roundRect">
            <a:avLst>
              <a:gd name="adj" fmla="val 285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tmp/rasterized-gradient-66b657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943100"/>
            <a:ext cx="1524000" cy="1524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4746" y="2419350"/>
            <a:ext cx="488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4500" dirty="0"/>
          </a:p>
        </p:txBody>
      </p:sp>
      <p:sp>
        <p:nvSpPr>
          <p:cNvPr id="12" name="Text 9"/>
          <p:cNvSpPr/>
          <p:nvPr/>
        </p:nvSpPr>
        <p:spPr>
          <a:xfrm>
            <a:off x="6605824" y="3771900"/>
            <a:ext cx="1266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3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Your Conventions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Warning Signs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AI outputs across sessions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the same patterns repeatedly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members struggle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from team standards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Quick Fixes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sprint on high-impact docs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examples directory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template library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"why" not just the "what"</a:t>
            </a:r>
            <a:endParaRPr lang="en-US" sz="13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Organization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64940"/>
            <a:ext cx="51297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274540"/>
            <a:ext cx="5029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file placement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naming conventions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README files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logical structure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836640"/>
            <a:ext cx="5029200" cy="518071"/>
          </a:xfrm>
          <a:prstGeom prst="roundRect">
            <a:avLst>
              <a:gd name="adj" fmla="val 7354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3836640"/>
            <a:ext cx="0" cy="518071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398904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filesystem is your context 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05500" y="1657350"/>
            <a:ext cx="2667000" cy="2705100"/>
          </a:xfrm>
          <a:prstGeom prst="roundRect">
            <a:avLst>
              <a:gd name="adj" fmla="val 285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tmp/rasterized-gradient-e7f169b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1943100"/>
            <a:ext cx="1524000" cy="1524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4746" y="2419350"/>
            <a:ext cx="488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4500" dirty="0"/>
          </a:p>
        </p:txBody>
      </p:sp>
      <p:sp>
        <p:nvSpPr>
          <p:cNvPr id="12" name="Text 9"/>
          <p:cNvSpPr/>
          <p:nvPr/>
        </p:nvSpPr>
        <p:spPr>
          <a:xfrm>
            <a:off x="6605824" y="3771900"/>
            <a:ext cx="1266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3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Matters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Warning Signs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can't find relevant files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path corrections needed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code scattered everywhere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onboarding new AI sessions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Restructuring Approaches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reorganization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high-traffic areas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standard templates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organization rationale</a:t>
            </a:r>
            <a:endParaRPr lang="en-US" sz="13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When to Reset</a:t>
            </a:r>
            <a:endParaRPr lang="en-US" sz="2250" dirty="0"/>
          </a:p>
        </p:txBody>
      </p:sp>
      <p:pic>
        <p:nvPicPr>
          <p:cNvPr id="4" name="Image 0" descr="/tmp/rasterized-gradient-08eea7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649760"/>
            <a:ext cx="3848100" cy="1295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" y="184026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If: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0100" y="2183160"/>
            <a:ext cx="34290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issues, fixable context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work in progress</a:t>
            </a:r>
            <a:endParaRPr lang="en-US" sz="1350" dirty="0"/>
          </a:p>
        </p:txBody>
      </p:sp>
      <p:pic>
        <p:nvPicPr>
          <p:cNvPr id="7" name="Image 1" descr="/tmp/rasterized-gradient-e39f19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497360"/>
            <a:ext cx="3848100" cy="1600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53000" y="1687860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Fresh If: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953000" y="2030760"/>
            <a:ext cx="34290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confusion present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assumptions made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slate needed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71500" y="3554760"/>
            <a:ext cx="8001000" cy="967680"/>
          </a:xfrm>
          <a:prstGeom prst="roundRect">
            <a:avLst>
              <a:gd name="adj" fmla="val 393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62000" y="374526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Checklist: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62000" y="4088160"/>
            <a:ext cx="77724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artifacts → Create context summary → Document lessons → Begin with clear context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Context Quality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Green Flags (Healthy)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understands requirements immediately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accurate outputs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back-and-forth clarification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on previous work correctly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15265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Red Flags (Unhealthy)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2686050"/>
            <a:ext cx="3848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explanations needed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assumptions made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outputs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iteration cycles</a:t>
            </a:r>
            <a:endParaRPr lang="en-US" sz="13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Starting Work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62000" y="2100263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Pre-Flight Checks: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236" y="2790825"/>
            <a:ext cx="19768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objective defined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67436" y="2790825"/>
            <a:ext cx="22791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context prepared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81236" y="3219450"/>
            <a:ext cx="252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available if needed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67436" y="3219450"/>
            <a:ext cx="22682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accessible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81236" y="3648075"/>
            <a:ext cx="18685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starting location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67436" y="3648075"/>
            <a:ext cx="20742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identified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Patterns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291828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Maintenance Activities: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1977628"/>
            <a:ext cx="8001000" cy="544711"/>
          </a:xfrm>
          <a:prstGeom prst="roundRect">
            <a:avLst>
              <a:gd name="adj" fmla="val 6995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977628"/>
            <a:ext cx="0" cy="54471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130028"/>
            <a:ext cx="29424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 and update key docs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1500" y="2712839"/>
            <a:ext cx="8001000" cy="544711"/>
          </a:xfrm>
          <a:prstGeom prst="roundRect">
            <a:avLst>
              <a:gd name="adj" fmla="val 6995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0550" y="2712839"/>
            <a:ext cx="0" cy="54471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865239"/>
            <a:ext cx="24393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Audit context libraries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1500" y="3448050"/>
            <a:ext cx="8001000" cy="544711"/>
          </a:xfrm>
          <a:prstGeom prst="roundRect">
            <a:avLst>
              <a:gd name="adj" fmla="val 6995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0550" y="3448050"/>
            <a:ext cx="0" cy="54471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3600450"/>
            <a:ext cx="30720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Reorganize based on usage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71500" y="4183261"/>
            <a:ext cx="8001000" cy="544711"/>
          </a:xfrm>
          <a:prstGeom prst="roundRect">
            <a:avLst>
              <a:gd name="adj" fmla="val 6995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0550" y="4183261"/>
            <a:ext cx="0" cy="544711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4335661"/>
            <a:ext cx="40528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new patterns as discovered</a:t>
            </a:r>
            <a:endParaRPr lang="en-US" sz="13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3428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Success Across Teams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79070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Team Adoption: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438400"/>
            <a:ext cx="800100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champions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success stories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shared libraries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knowledge sharing sessions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improvements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and demonstrate value</a:t>
            </a:r>
            <a:endParaRPr lang="en-US" sz="13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Know It's Working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23066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1878360"/>
            <a:ext cx="80010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useful output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 needed per task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of initial attempts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repeated questions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adoption rate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821460"/>
            <a:ext cx="8001000" cy="967680"/>
          </a:xfrm>
          <a:prstGeom prst="roundRect">
            <a:avLst>
              <a:gd name="adj" fmla="val 393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401196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Indicators: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2000" y="4354860"/>
            <a:ext cx="77724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confidence, reduced frustration, faster onboarding, consistent quality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7897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Context Engineering Journey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7145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5788" y="17145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3425" y="18478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concepts and principles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86300" y="17145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00588" y="17145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8225" y="18478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Filesystem organization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" y="24003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85788" y="24003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425" y="25336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Multi-tab orchestration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6300" y="24003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00588" y="24003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8225" y="25336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data stores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1500" y="30861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5788" y="30861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425" y="32194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Integration patterns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86300" y="3086100"/>
            <a:ext cx="3886200" cy="533400"/>
          </a:xfrm>
          <a:prstGeom prst="roundRect">
            <a:avLst>
              <a:gd name="adj" fmla="val 7143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0588" y="3086100"/>
            <a:ext cx="0" cy="533400"/>
          </a:xfrm>
          <a:prstGeom prst="line">
            <a:avLst/>
          </a:prstGeom>
          <a:noFill/>
          <a:ln w="28575">
            <a:solidFill>
              <a:srgbClr val="5FA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8225" y="3219450"/>
            <a:ext cx="3662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Practical patterns</a:t>
            </a:r>
            <a:endParaRPr lang="en-US" sz="1500" dirty="0"/>
          </a:p>
        </p:txBody>
      </p:sp>
      <p:pic>
        <p:nvPicPr>
          <p:cNvPr id="22" name="Image 0" descr="/tmp/rasterized-gradient-6b21bd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771900"/>
            <a:ext cx="8001000" cy="533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33425" y="3905250"/>
            <a:ext cx="7859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7: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Avoiding pitfalls</a:t>
            </a:r>
            <a:endParaRPr lang="en-US" sz="15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702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Principles to Remember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38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6750" y="1733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 is everything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86300" y="1638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81550" y="1733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filesystem is your 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" y="22098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23050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agent, one job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86300" y="22098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81550" y="23050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your ground truth locally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6750" y="2876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Choose integration patterns wisely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6300" y="2781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2876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patterns as discovered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1500" y="33528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6750" y="34480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 context pollution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86300" y="33528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1550" y="34480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Clarity trumps brevity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1500" y="3924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6750" y="4019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Organization enables AI effectiveness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86300" y="3924300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5BA8D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1550" y="4019550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Iterate and improve continuously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It Forward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38499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070795"/>
            <a:ext cx="80010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one pattern from each session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 context library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your workflows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learnings with team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based on results</a:t>
            </a:r>
            <a:endParaRPr lang="en-US" sz="1350" dirty="0"/>
          </a:p>
        </p:txBody>
      </p:sp>
      <p:pic>
        <p:nvPicPr>
          <p:cNvPr id="6" name="Image 0" descr="/tmp/rasterized-gradient-5fbdfa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013895"/>
            <a:ext cx="8001000" cy="6209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" y="4204395"/>
            <a:ext cx="77335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Small, consistent improvements compound over time</a:t>
            </a:r>
            <a:endParaRPr lang="en-US" sz="13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2055" y="1009650"/>
            <a:ext cx="31198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800"/>
              </a:spcAft>
              <a:buNone/>
            </a:pPr>
            <a:r>
              <a:rPr lang="en-US" sz="4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90329" y="1962150"/>
            <a:ext cx="4363194" cy="419100"/>
          </a:xfrm>
          <a:prstGeom prst="roundRect">
            <a:avLst>
              <a:gd name="adj" fmla="val 9091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79869" y="2038350"/>
            <a:ext cx="39841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CE101: Context Engineering Fundamentals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95622" y="2838450"/>
            <a:ext cx="33526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3600"/>
              </a:spcAft>
              <a:buNone/>
            </a:pPr>
            <a:r>
              <a:rPr lang="en-US" sz="225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413793" y="3829050"/>
            <a:ext cx="43164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your learning journey with context engineering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101 - Core Concepts</dc:title>
  <dc:subject>Session 1: Core Concepts</dc:subject>
  <dc:creator>Context Engineering 101</dc:creator>
  <cp:lastModifiedBy>Context Engineering 101</cp:lastModifiedBy>
  <cp:revision>1</cp:revision>
  <dcterms:created xsi:type="dcterms:W3CDTF">2025-11-08T16:14:37Z</dcterms:created>
  <dcterms:modified xsi:type="dcterms:W3CDTF">2025-11-08T16:14:37Z</dcterms:modified>
</cp:coreProperties>
</file>